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2026 STAR-MOOC 실무자협의회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058400" cy="10972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ctr">
              <a:spcAft>
                <a:spcPts val="800"/>
              </a:spcAft>
            </a:pPr>
            <a:r>
              <a:rPr sz="3900" b="1">
                <a:solidFill>
                  <a:srgbClr val="163357"/>
                </a:solidFill>
                <a:latin typeface="맑은 고딕"/>
              </a:rPr>
              <a:t>GIST 발표자료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9784080" cy="9144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007D8C"/>
                </a:solidFill>
                <a:latin typeface="맑은 고딕"/>
              </a:rPr>
              <a:t>온라인 강좌의 미래 · 행정 AI 적용 · AI 시대의 교육과 평가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1 | 온라인 강좌 운영 현황과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69848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현재 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2743200" cy="589788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481328"/>
            <a:ext cx="8046720" cy="589788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운영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93976"/>
            <a:ext cx="274320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STAR-MOOC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2093976"/>
            <a:ext cx="804672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과학기술특성화대학 간 온라인 강좌 공동 개발·공유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06624"/>
            <a:ext cx="274320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지정 MOOC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706624"/>
            <a:ext cx="804672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지정된 온라인 강좌를 학생 학습에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19272"/>
            <a:ext cx="274320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선택 MOOC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3319272"/>
            <a:ext cx="804672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담당교수가 외부 온라인 강좌를 수업에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931920"/>
            <a:ext cx="274320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LMS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3931920"/>
            <a:ext cx="8046720" cy="58978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강의자료·동영상·과제·평가 등 정규수업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운영 과정에서의 고민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10515600" cy="484632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14E5B"/>
                </a:solidFill>
                <a:latin typeface="맑은 고딕"/>
              </a:rPr>
              <a:t>• 신규 개발뿐 아니라 기존 강좌의 지속적 활용이 중요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24144"/>
            <a:ext cx="10515600" cy="484632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14E5B"/>
                </a:solidFill>
                <a:latin typeface="맑은 고딕"/>
              </a:rPr>
              <a:t>• 업데이트와 활용도 저하에 대응하고 수강 현황 기반으로 유지·보완·재개발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1 | 앞으로의 운영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추진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749808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기관별 강점 분야 콘텐츠 공동 개발·활용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10515600" cy="749808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선수·보충학습, Flipped Learning 등 정규수업과 연계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91256"/>
            <a:ext cx="10515600" cy="749808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강의자료·자막·퀴즈 작성 및 반복 문의 대응에 AI 활용 검토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663440"/>
            <a:ext cx="10789920" cy="713232"/>
          </a:xfrm>
          <a:prstGeom prst="roundRect">
            <a:avLst/>
          </a:prstGeom>
          <a:solidFill>
            <a:srgbClr val="FB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773168"/>
            <a:ext cx="10332720" cy="502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63357"/>
                </a:solidFill>
                <a:latin typeface="맑은 고딕"/>
              </a:rPr>
              <a:t>좋은 강좌를 얼마나 잘 활용하고 실제 학습에 연결하는가가 중요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2 | GIST AI 적용 현황과 주요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42415"/>
            <a:ext cx="10515600" cy="4114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14E5B"/>
                </a:solidFill>
                <a:latin typeface="맑은 고딕"/>
              </a:rPr>
              <a:t>• 「GIST 도서관 AI」 챗봇 운영  ·  2026년 「GIST 행정 AX 혁신대회」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행정 AX 혁신대회 주요 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4114800" cy="443484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사례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3168" y="1938528"/>
            <a:ext cx="6675120" cy="443484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활용 분야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404872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AI 평가보고서 자동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2404872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평가자료 분석·보고서 초안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AI 동료(에이전트)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2871216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반복·정형 행정업무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337560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G-크루저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3337560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교내 공지 통합 제공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03904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학사 행정 AI 챗봇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3803904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학사 문의 대응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270248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국·영문 행정 안내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3168" y="4270248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안내문 작성 지원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736592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국외출장 AI 어시스턴트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73168" y="4736592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출장서류 누락 사전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02936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AI 시간외근무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73168" y="5202936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근태 확인업무 지원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69280"/>
            <a:ext cx="411480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HR 인사이트 대시보드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3168" y="5669280"/>
            <a:ext cx="6675120" cy="443484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0">
                <a:solidFill>
                  <a:srgbClr val="163357"/>
                </a:solidFill>
                <a:latin typeface="맑은 고딕"/>
              </a:rPr>
              <a:t>데이터 기반 인사업무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2 | AI 적용 효과와 향후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발표자료에 제시된 적용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3657600" cy="544068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481328"/>
            <a:ext cx="2926080" cy="544068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기존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2048" y="1481328"/>
            <a:ext cx="4206240" cy="544068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AI 적용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48256"/>
            <a:ext cx="365760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재무 결산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048256"/>
            <a:ext cx="292608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약 10일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2048" y="2048256"/>
            <a:ext cx="420624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1~2일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15184"/>
            <a:ext cx="365760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평가보고서 초안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615184"/>
            <a:ext cx="292608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수개월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2615184"/>
            <a:ext cx="420624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수일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82112"/>
            <a:ext cx="365760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국·영문 행정안내문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182112"/>
            <a:ext cx="292608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건당 수십 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3182112"/>
            <a:ext cx="420624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수분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49039"/>
            <a:ext cx="365760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학사 문의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3749039"/>
            <a:ext cx="292608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업무시간 중심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3749039"/>
            <a:ext cx="4206240" cy="544068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0">
                <a:solidFill>
                  <a:srgbClr val="163357"/>
                </a:solidFill>
                <a:latin typeface="맑은 고딕"/>
              </a:rPr>
              <a:t>AI 챗봇 24시간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향후 적용 방향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1184"/>
            <a:ext cx="10515600" cy="438912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14E5B"/>
                </a:solidFill>
                <a:latin typeface="맑은 고딕"/>
              </a:rPr>
              <a:t>• 보안성·안정성 검토 후 단계적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0096"/>
            <a:ext cx="10515600" cy="438912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14E5B"/>
                </a:solidFill>
                <a:latin typeface="맑은 고딕"/>
              </a:rPr>
              <a:t>• LMS·STAR-MOOC 반복 문의, 수강안내, 공지 작성부터 활용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815584"/>
            <a:ext cx="10789920" cy="448056"/>
          </a:xfrm>
          <a:prstGeom prst="roundRect">
            <a:avLst/>
          </a:prstGeom>
          <a:solidFill>
            <a:srgbClr val="FB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43016"/>
            <a:ext cx="10332720" cy="347472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63357"/>
                </a:solidFill>
                <a:latin typeface="맑은 고딕"/>
              </a:rPr>
              <a:t>반복 업무에서 작은 AI 활용을 하나씩 실천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3 | AI 시대에 무엇을 가르치고 평가할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789920" cy="512064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7D8C"/>
                </a:solidFill>
                <a:latin typeface="맑은 고딕"/>
              </a:rPr>
              <a:t>AI가 만든 결과물만으로는 학생의 실제 이해도를 판단하기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0789920" cy="502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3357"/>
                </a:solidFill>
                <a:latin typeface="맑은 고딕"/>
              </a:rPr>
              <a:t>교육 방향: 기본 개념 + 질문하는 능력 + 근거 검증 및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평가 방식의 변화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06040"/>
            <a:ext cx="4114800" cy="571500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기존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3168" y="2606040"/>
            <a:ext cx="6675120" cy="571500"/>
          </a:xfrm>
          <a:prstGeom prst="rect">
            <a:avLst/>
          </a:prstGeom>
          <a:solidFill>
            <a:srgbClr val="2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함께 생각해 볼 평가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00400"/>
            <a:ext cx="411480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결과물 중심 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3200400"/>
            <a:ext cx="667512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해결 과정과 근거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794760"/>
            <a:ext cx="411480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정답 찾기 과제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3794760"/>
            <a:ext cx="667512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AI 답변 오류 찾기·수정하기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89120"/>
            <a:ext cx="411480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보고서 제출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4389120"/>
            <a:ext cx="667512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보고서 + 발표·설명·질의응답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83480"/>
            <a:ext cx="411480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일률적 AI 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4983480"/>
            <a:ext cx="6675120" cy="571500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0">
                <a:solidFill>
                  <a:srgbClr val="163357"/>
                </a:solidFill>
                <a:latin typeface="맑은 고딕"/>
              </a:rPr>
              <a:t>학습목표별 AI 허용 범위 구분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762056"/>
            <a:ext cx="106984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700" b="1" dirty="0">
                <a:solidFill>
                  <a:srgbClr val="BE1923"/>
                </a:solidFill>
                <a:latin typeface="맑은 고딕"/>
              </a:rPr>
              <a:t>“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GIST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미래교육혁신위원회에서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AI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시대에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맞는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교육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및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평가체계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개선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방안을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BE1923"/>
                </a:solidFill>
                <a:latin typeface="맑은 고딕"/>
              </a:rPr>
              <a:t>논의</a:t>
            </a:r>
            <a:r>
              <a:rPr sz="1700" b="1" dirty="0">
                <a:solidFill>
                  <a:srgbClr val="BE1923"/>
                </a:solidFill>
                <a:latin typeface="맑은 고딕"/>
              </a:rPr>
              <a:t> 중</a:t>
            </a:r>
            <a:r>
              <a:rPr lang="en-US" sz="1700" b="1" dirty="0">
                <a:solidFill>
                  <a:srgbClr val="BE1923"/>
                </a:solidFill>
                <a:latin typeface="맑은 고딕"/>
              </a:rPr>
              <a:t>"</a:t>
            </a:r>
            <a:endParaRPr sz="1700" b="1" dirty="0">
              <a:solidFill>
                <a:srgbClr val="BE192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34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BE1923"/>
                </a:solidFill>
                <a:latin typeface="맑은 고딕"/>
              </a:rPr>
              <a:t>안건 3 | STAR-MOOC 적용 및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219456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2026 STAR-MOOC 실무자협의회  |  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14E5B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D8C"/>
                </a:solidFill>
                <a:latin typeface="맑은 고딕"/>
              </a:rPr>
              <a:t>온라인 강좌에서 함께 논의할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515600" cy="7772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동영상·퀴즈 외 질문·토론·적용 활동 함께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515600" cy="7772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학습목표별 AI 활용 가능 과제와 제한 평가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0515600" cy="7772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14E5B"/>
                </a:solidFill>
                <a:latin typeface="맑은 고딕"/>
              </a:rPr>
              <a:t>• 기관별 AI 교수·학습·평가 사례 공유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983480"/>
            <a:ext cx="10789920" cy="713232"/>
          </a:xfrm>
          <a:prstGeom prst="roundRect">
            <a:avLst/>
          </a:prstGeom>
          <a:solidFill>
            <a:srgbClr val="FB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10332720" cy="502920"/>
          </a:xfrm>
          <a:prstGeom prst="rect">
            <a:avLst/>
          </a:prstGeom>
          <a:noFill/>
        </p:spPr>
        <p:txBody>
          <a:bodyPr wrap="square" lIns="73152" anchor="ctr">
            <a:spAutoFit/>
          </a:bodyPr>
          <a:lstStyle/>
          <a:p>
            <a:pPr algn="ctr"/>
            <a:r>
              <a:rPr sz="1700" b="1">
                <a:solidFill>
                  <a:srgbClr val="163357"/>
                </a:solidFill>
              </a:rPr>
              <a:t>AI 시대에는 더 좋은 질문을 만들고 답을 판단·책임지는 역량이 중요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499</Words>
  <Application>Microsoft Office PowerPoint</Application>
  <PresentationFormat>와이드스크린</PresentationFormat>
  <Paragraphs>101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2026-10-12T05:14:31Z</dcterms:modified>
  <cp:category/>
</cp:coreProperties>
</file>