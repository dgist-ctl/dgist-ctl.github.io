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84" r:id="rId4"/>
    <p:sldId id="282" r:id="rId5"/>
    <p:sldId id="273" r:id="rId6"/>
    <p:sldId id="259" r:id="rId7"/>
    <p:sldId id="262" r:id="rId8"/>
    <p:sldId id="285" r:id="rId9"/>
    <p:sldId id="257" r:id="rId10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8DCB"/>
    <a:srgbClr val="D1D1D1"/>
    <a:srgbClr val="8EC31F"/>
    <a:srgbClr val="2020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29"/>
    <p:restoredTop sz="96405"/>
  </p:normalViewPr>
  <p:slideViewPr>
    <p:cSldViewPr snapToGrid="0" snapToObjects="1">
      <p:cViewPr varScale="1">
        <p:scale>
          <a:sx n="113" d="100"/>
          <a:sy n="113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EC4A6-81A7-884A-9913-7F7DD7BC6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30D0C6-9975-C346-BA57-F2F774B5B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2D197-3A0E-EE4F-B498-60FECA61A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578861-68E2-0941-AD37-DBC35708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63ED6-74D6-3F4E-B017-7AE6E19D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5564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92A3AE-1E1E-8649-8BB3-D2C89C103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12E817-C483-CF48-819F-15076EFFA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1629EF-74AB-6C4B-B84A-52867DE47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0DC70E-E73F-2748-8B63-47E29E03E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3D0C35-C26D-8A4F-A6F7-470B249F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156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F01F3C-7795-6D43-98E4-06D7DA16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E716F-B145-8644-873A-5B0ED7493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8B58B-7726-184A-BF67-B38980E97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636213-B0E2-944B-9100-9E40256A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14DFB-F98E-874F-9486-09B27CA0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88262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27387-3DE3-EE4F-99B6-54A48F56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6681C-8B0E-7546-BDBB-EBCBF7D6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A1A0A4-B79B-6F46-8C0F-D65F4D908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EC8F60-9856-074E-8A83-F44E39F8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53D89D-74D0-404F-920F-DAB78D11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71970C-D5D9-5D48-AA63-C130F1F9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79436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10F3CB-A1C8-0842-93B5-F046FC5C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49A5F-2506-4244-A2A3-D9D6BFB7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BB3802-EF59-8F4A-B500-266E3F790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C1A74CD-434C-C64E-BE13-F8A5104BB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7E8F70-FDB2-044E-94F8-7C78D581C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F7D67A-9DD2-3547-8D05-8F537F70C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461D41-E86E-114C-AA77-5AF63450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5EFA4D-948D-7A45-9810-A03F2966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63547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8DF78-AF20-6D40-ADA7-0398250F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825351-9EC1-8649-B772-ECD477C4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9C0AEE-BAFD-C343-9FCA-DB2BE469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1615A9-9148-7542-9FF1-F46168C49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043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EA176B-2791-794E-810B-D78A07B56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7F0BE2-272B-E64D-8F84-BDCAFECF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D1F92A-55CB-014C-9620-84844631C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30387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049FF8-F510-8647-B7CD-547A5E15D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BC46B-FC30-9B48-8F94-0CF176EF7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C594BD-48F6-3B4D-B023-19669815F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BBD1B8-A602-FF49-A159-AEA51CFD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BAFDDB-D3BF-2647-8A09-32ABD672A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B38D02-5785-424B-B9B5-BFB50189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27908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494F6-F4A7-D147-ACAF-A3409CB6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05D79C-FE87-1649-83B1-624B90139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625005-7FF6-714D-BE0B-E2F4ADD57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FA653-60C2-264C-9087-2E11D73DC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25219B-ECCB-454F-B42C-BDDABA88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454622-F360-D548-8B87-DA711C9E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8983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CA210-A7D3-0B49-9C80-CF1AD19D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DD4FB2-DE32-794B-A382-F0BDDD0F1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C11FB8-885B-7648-87FA-24AF8D6E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94F270-AB21-0E46-B339-F096F5A9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0A4940-8728-5148-960D-6226C17AE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7556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9244369-FB1F-C048-958B-F0F630592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13331-8A74-E04B-99AE-78A096E2A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EC57C-E9B2-4048-A5D1-F0B43641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EDA0F-92D3-4642-A62F-3806B763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AE9D7A-AC83-DB4A-AAF0-DF2E5703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3668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6370D01-0DB1-5A48-9FEC-3ACC6B5A1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938C33-C840-5744-89CA-F0583AC92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D4A52-0A1F-154F-9879-52A91013D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77E9-9041-8547-BC91-D07B0442151B}" type="datetimeFigureOut">
              <a:rPr kumimoji="1" lang="ko-Kore-KR" altLang="en-US" smtClean="0"/>
              <a:t>10/02/2026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39416F-8DD7-514D-9C42-6D2DC7FFB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843DA8-1E44-BE4A-BD8D-5BA77FFE2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15C4B-BA82-7944-A3F7-083EB81FA8E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6514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iandeducation.mit.edu/" TargetMode="External"/><Relationship Id="rId4" Type="http://schemas.openxmlformats.org/officeDocument/2006/relationships/hyperlink" Target="https://provost.brown.edu/sites/default/files/GAITL_Committee_Report_FNL.pdf%20provost.brown.edu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04930C6-5E6E-A840-860B-C3C4026A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EDC40F-B175-0F45-A9E2-74F81707CA24}"/>
              </a:ext>
            </a:extLst>
          </p:cNvPr>
          <p:cNvSpPr txBox="1"/>
          <p:nvPr/>
        </p:nvSpPr>
        <p:spPr>
          <a:xfrm>
            <a:off x="799695" y="833897"/>
            <a:ext cx="93314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48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</a:t>
            </a:r>
            <a:r>
              <a:rPr kumimoji="1" lang="ko-KR" altLang="en-US" sz="48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가 답을 주는데</a:t>
            </a:r>
            <a:endParaRPr kumimoji="1" lang="en-US" altLang="ko-KR" sz="48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  <a:p>
            <a:r>
              <a:rPr kumimoji="1" lang="ko-KR" altLang="en-US" sz="4800" b="1" i="0" dirty="0">
                <a:solidFill>
                  <a:srgbClr val="498DCB"/>
                </a:solidFill>
                <a:effectLst/>
                <a:latin typeface="Malgun Gothic" panose="020B0503020000020004" pitchFamily="50" charset="-127"/>
                <a:ea typeface="NanumSquare ExtraBold" panose="020B0600000101010101" pitchFamily="34" charset="-127"/>
              </a:rPr>
              <a:t>무엇을 가르치고 평가할 것인가</a:t>
            </a:r>
            <a:r>
              <a:rPr kumimoji="1" lang="en-US" altLang="ko-KR" sz="4800" b="1" i="0" dirty="0">
                <a:solidFill>
                  <a:srgbClr val="498DCB"/>
                </a:solidFill>
                <a:effectLst/>
                <a:latin typeface="Malgun Gothic" panose="020B0503020000020004" pitchFamily="50" charset="-127"/>
                <a:ea typeface="NanumSquare ExtraBold" panose="020B0600000101010101" pitchFamily="34" charset="-127"/>
              </a:rPr>
              <a:t>?</a:t>
            </a:r>
            <a:r>
              <a:rPr lang="ko-KR" altLang="en-US" sz="4800" b="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endParaRPr lang="en-US" altLang="ko-KR" sz="4800" b="0" i="0" dirty="0">
              <a:solidFill>
                <a:srgbClr val="222222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357CD-0179-498B-9F36-8FEB2A0C8211}"/>
              </a:ext>
            </a:extLst>
          </p:cNvPr>
          <p:cNvSpPr txBox="1"/>
          <p:nvPr/>
        </p:nvSpPr>
        <p:spPr>
          <a:xfrm>
            <a:off x="4762943" y="5793270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교수학습혁신센터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6428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0B1D61-2643-7F40-8E9C-6D338494EE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8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2E143-0151-4C4B-9E0E-83E94949B711}"/>
              </a:ext>
            </a:extLst>
          </p:cNvPr>
          <p:cNvSpPr txBox="1"/>
          <p:nvPr/>
        </p:nvSpPr>
        <p:spPr>
          <a:xfrm>
            <a:off x="1303898" y="1676459"/>
            <a:ext cx="330860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대학 현장의 변화</a:t>
            </a:r>
            <a:r>
              <a:rPr kumimoji="1" lang="en-US" altLang="en-US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endParaRPr kumimoji="1" lang="en-US" altLang="ko-KR" b="1" dirty="0">
              <a:solidFill>
                <a:schemeClr val="accent4">
                  <a:lumMod val="60000"/>
                  <a:lumOff val="40000"/>
                </a:schemeClr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80C043-BADE-A940-B965-8FAEFBF42DA0}"/>
              </a:ext>
            </a:extLst>
          </p:cNvPr>
          <p:cNvSpPr txBox="1"/>
          <p:nvPr/>
        </p:nvSpPr>
        <p:spPr>
          <a:xfrm>
            <a:off x="614754" y="1669086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01</a:t>
            </a:r>
            <a:endParaRPr kumimoji="1" lang="ko-Kore-KR" altLang="en-US" sz="240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4B615-0A46-F544-860F-E7C8521D6F64}"/>
              </a:ext>
            </a:extLst>
          </p:cNvPr>
          <p:cNvSpPr txBox="1"/>
          <p:nvPr/>
        </p:nvSpPr>
        <p:spPr>
          <a:xfrm>
            <a:off x="565789" y="39068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+mn-ea"/>
              </a:rPr>
              <a:t>목차</a:t>
            </a:r>
            <a:endParaRPr kumimoji="1" lang="ko-Kore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0C904DA-A58E-4F4E-8AE5-3B51C441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7"/>
            <a:ext cx="928115" cy="2547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A538FDA-FE97-B144-88F4-A968602DF48C}"/>
              </a:ext>
            </a:extLst>
          </p:cNvPr>
          <p:cNvSpPr txBox="1"/>
          <p:nvPr/>
        </p:nvSpPr>
        <p:spPr>
          <a:xfrm>
            <a:off x="11352393" y="639291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D1D1D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04</a:t>
            </a:r>
            <a:endParaRPr kumimoji="1" lang="ko-Kore-KR" altLang="en-US" sz="1000" dirty="0">
              <a:solidFill>
                <a:srgbClr val="D1D1D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DB61371-96FD-AD4F-9541-2A97E335D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913" y="6273714"/>
            <a:ext cx="2815296" cy="3152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93D6F74-3FE0-422F-ACC6-D3C07BE76CFF}"/>
              </a:ext>
            </a:extLst>
          </p:cNvPr>
          <p:cNvSpPr txBox="1"/>
          <p:nvPr/>
        </p:nvSpPr>
        <p:spPr>
          <a:xfrm>
            <a:off x="1279417" y="2204971"/>
            <a:ext cx="313080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무엇을 가르칠 것인가</a:t>
            </a:r>
            <a:endParaRPr kumimoji="1" lang="en-US" altLang="ko-KR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A7287-EB88-484B-829C-993E2E52CE69}"/>
              </a:ext>
            </a:extLst>
          </p:cNvPr>
          <p:cNvSpPr txBox="1"/>
          <p:nvPr/>
        </p:nvSpPr>
        <p:spPr>
          <a:xfrm>
            <a:off x="565790" y="22074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02</a:t>
            </a:r>
            <a:endParaRPr kumimoji="1" lang="ko-Kore-KR" altLang="en-US" sz="240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D4FFB-BD43-42B4-BF29-A85191C2C6A4}"/>
              </a:ext>
            </a:extLst>
          </p:cNvPr>
          <p:cNvSpPr txBox="1"/>
          <p:nvPr/>
        </p:nvSpPr>
        <p:spPr>
          <a:xfrm>
            <a:off x="1314321" y="3752583"/>
            <a:ext cx="333308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결론</a:t>
            </a:r>
            <a:endParaRPr kumimoji="1" lang="en-US" altLang="ko-KR" b="1" dirty="0">
              <a:solidFill>
                <a:schemeClr val="accent4">
                  <a:lumMod val="60000"/>
                  <a:lumOff val="40000"/>
                </a:schemeClr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FA7210-3CB5-46F5-9794-772E9D7F5037}"/>
              </a:ext>
            </a:extLst>
          </p:cNvPr>
          <p:cNvSpPr txBox="1"/>
          <p:nvPr/>
        </p:nvSpPr>
        <p:spPr>
          <a:xfrm>
            <a:off x="600695" y="374521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05</a:t>
            </a:r>
            <a:endParaRPr kumimoji="1" lang="ko-Kore-KR" altLang="en-US" sz="240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E996A-E5BA-4AB7-AD73-7E3396F27A44}"/>
              </a:ext>
            </a:extLst>
          </p:cNvPr>
          <p:cNvSpPr txBox="1"/>
          <p:nvPr/>
        </p:nvSpPr>
        <p:spPr>
          <a:xfrm>
            <a:off x="1279416" y="2763198"/>
            <a:ext cx="3130801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어떻게 가르칠 것인가</a:t>
            </a:r>
            <a:endParaRPr kumimoji="1" lang="en-US" altLang="ko-KR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FA765-4BB3-4726-A44C-E84098366E2B}"/>
              </a:ext>
            </a:extLst>
          </p:cNvPr>
          <p:cNvSpPr txBox="1"/>
          <p:nvPr/>
        </p:nvSpPr>
        <p:spPr>
          <a:xfrm>
            <a:off x="565789" y="2765627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03</a:t>
            </a:r>
            <a:endParaRPr kumimoji="1" lang="ko-Kore-KR" altLang="en-US" sz="240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AFF77-517C-4CC2-B9CA-2CF358E180E8}"/>
              </a:ext>
            </a:extLst>
          </p:cNvPr>
          <p:cNvSpPr txBox="1"/>
          <p:nvPr/>
        </p:nvSpPr>
        <p:spPr>
          <a:xfrm>
            <a:off x="1279415" y="3244064"/>
            <a:ext cx="3333083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무엇을 평가할 것인가</a:t>
            </a:r>
            <a:endParaRPr kumimoji="1" lang="en-US" altLang="ko-KR" b="1" dirty="0">
              <a:solidFill>
                <a:schemeClr val="accent4">
                  <a:lumMod val="60000"/>
                  <a:lumOff val="40000"/>
                </a:schemeClr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C559C1-5780-4ED9-A649-EC8889DDDA20}"/>
              </a:ext>
            </a:extLst>
          </p:cNvPr>
          <p:cNvSpPr txBox="1"/>
          <p:nvPr/>
        </p:nvSpPr>
        <p:spPr>
          <a:xfrm>
            <a:off x="565789" y="3244064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400" dirty="0">
                <a:solidFill>
                  <a:schemeClr val="bg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04</a:t>
            </a:r>
            <a:endParaRPr kumimoji="1" lang="ko-Kore-KR" altLang="en-US" sz="2400" dirty="0">
              <a:solidFill>
                <a:schemeClr val="bg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05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3BE0819-00A5-E943-A0F0-3AAF6EF0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8"/>
            <a:ext cx="928115" cy="254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2EFCE7-037B-3648-B0EA-C1AC64F8BBD0}"/>
              </a:ext>
            </a:extLst>
          </p:cNvPr>
          <p:cNvSpPr txBox="1"/>
          <p:nvPr/>
        </p:nvSpPr>
        <p:spPr>
          <a:xfrm>
            <a:off x="565789" y="390688"/>
            <a:ext cx="2557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대학 현장의 변화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7EC18A-C8B4-174C-B941-54F9E112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29" y="6063255"/>
            <a:ext cx="2815296" cy="3152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2E13E7-A5AD-7141-82F0-8EE98DC359CF}"/>
              </a:ext>
            </a:extLst>
          </p:cNvPr>
          <p:cNvSpPr txBox="1"/>
          <p:nvPr/>
        </p:nvSpPr>
        <p:spPr>
          <a:xfrm>
            <a:off x="11336209" y="6185121"/>
            <a:ext cx="3385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>
                <a:solidFill>
                  <a:srgbClr val="498DCB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</a:t>
            </a:r>
            <a:r>
              <a:rPr kumimoji="1" lang="en-US" altLang="ko-KR" sz="1000" dirty="0">
                <a:solidFill>
                  <a:srgbClr val="498DCB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1</a:t>
            </a:r>
            <a:endParaRPr kumimoji="1" lang="ko-Kore-KR" altLang="en-US" sz="1000" dirty="0">
              <a:solidFill>
                <a:srgbClr val="498DCB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57D829-05DC-4765-A323-D42057F1EB7C}"/>
              </a:ext>
            </a:extLst>
          </p:cNvPr>
          <p:cNvSpPr txBox="1"/>
          <p:nvPr/>
        </p:nvSpPr>
        <p:spPr>
          <a:xfrm>
            <a:off x="684322" y="1234054"/>
            <a:ext cx="1074567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 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대학들은 이미 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 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사용 여부를 넘어 교육 자체를 다시 설계하고 있다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!</a:t>
            </a:r>
            <a:endParaRPr kumimoji="1" lang="en-US" altLang="en-US" b="1" dirty="0">
              <a:ln>
                <a:solidFill>
                  <a:srgbClr val="D91962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AEFDDD2F-FD76-4BBE-BB84-0C4A128C6FDF}"/>
              </a:ext>
            </a:extLst>
          </p:cNvPr>
          <p:cNvSpPr/>
          <p:nvPr/>
        </p:nvSpPr>
        <p:spPr>
          <a:xfrm>
            <a:off x="685800" y="1874519"/>
            <a:ext cx="3246120" cy="34747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C65EE-B4CF-4445-9326-4E7DFEF1B9CC}"/>
              </a:ext>
            </a:extLst>
          </p:cNvPr>
          <p:cNvSpPr txBox="1"/>
          <p:nvPr/>
        </p:nvSpPr>
        <p:spPr>
          <a:xfrm>
            <a:off x="914400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57A6"/>
                </a:solidFill>
                <a:latin typeface="Aptos"/>
              </a:rPr>
              <a:t>KAIST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8C54E9-6751-4EFF-B2B8-CF8907605309}"/>
              </a:ext>
            </a:extLst>
          </p:cNvPr>
          <p:cNvSpPr txBox="1"/>
          <p:nvPr/>
        </p:nvSpPr>
        <p:spPr>
          <a:xfrm>
            <a:off x="914400" y="24963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14213D"/>
                </a:solidFill>
                <a:latin typeface="Aptos"/>
              </a:rPr>
              <a:t>Beyond AI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BB645-15D9-4E18-A29C-100488A03908}"/>
              </a:ext>
            </a:extLst>
          </p:cNvPr>
          <p:cNvSpPr txBox="1"/>
          <p:nvPr/>
        </p:nvSpPr>
        <p:spPr>
          <a:xfrm>
            <a:off x="914400" y="3063240"/>
            <a:ext cx="2788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222222"/>
                </a:solidFill>
                <a:latin typeface="+mj-ea"/>
                <a:ea typeface="+mj-ea"/>
              </a:rPr>
              <a:t>- 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AI </a:t>
            </a:r>
            <a:r>
              <a:rPr sz="1400" b="0" dirty="0" err="1">
                <a:solidFill>
                  <a:srgbClr val="222222"/>
                </a:solidFill>
                <a:latin typeface="+mj-ea"/>
                <a:ea typeface="+mj-ea"/>
              </a:rPr>
              <a:t>없이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 </a:t>
            </a:r>
            <a:r>
              <a:rPr lang="ko-KR" altLang="en-US" sz="1400" b="0" dirty="0">
                <a:solidFill>
                  <a:srgbClr val="222222"/>
                </a:solidFill>
                <a:latin typeface="+mj-ea"/>
                <a:ea typeface="+mj-ea"/>
              </a:rPr>
              <a:t>배우기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
</a:t>
            </a:r>
            <a:r>
              <a:rPr lang="en-US" sz="1400" b="0" dirty="0">
                <a:solidFill>
                  <a:srgbClr val="222222"/>
                </a:solidFill>
                <a:latin typeface="+mj-ea"/>
                <a:ea typeface="+mj-ea"/>
              </a:rPr>
              <a:t>- 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AI </a:t>
            </a:r>
            <a:r>
              <a:rPr sz="1400" b="0" dirty="0" err="1">
                <a:solidFill>
                  <a:srgbClr val="222222"/>
                </a:solidFill>
                <a:latin typeface="+mj-ea"/>
                <a:ea typeface="+mj-ea"/>
              </a:rPr>
              <a:t>활용</a:t>
            </a:r>
            <a:r>
              <a:rPr lang="ko-KR" altLang="en-US" sz="1400" b="0" dirty="0">
                <a:solidFill>
                  <a:srgbClr val="222222"/>
                </a:solidFill>
                <a:latin typeface="+mj-ea"/>
                <a:ea typeface="+mj-ea"/>
              </a:rPr>
              <a:t>해 배우기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
</a:t>
            </a:r>
            <a:r>
              <a:rPr lang="en-US" sz="1400" b="0" dirty="0">
                <a:solidFill>
                  <a:srgbClr val="222222"/>
                </a:solidFill>
                <a:latin typeface="+mj-ea"/>
                <a:ea typeface="+mj-ea"/>
              </a:rPr>
              <a:t>- </a:t>
            </a:r>
            <a:r>
              <a:rPr sz="1400" b="0" dirty="0">
                <a:solidFill>
                  <a:srgbClr val="222222"/>
                </a:solidFill>
                <a:latin typeface="+mj-ea"/>
                <a:ea typeface="+mj-ea"/>
              </a:rPr>
              <a:t>AI </a:t>
            </a:r>
            <a:r>
              <a:rPr lang="ko-KR" altLang="en-US" sz="1400" b="0" dirty="0">
                <a:solidFill>
                  <a:srgbClr val="222222"/>
                </a:solidFill>
                <a:latin typeface="+mj-ea"/>
                <a:ea typeface="+mj-ea"/>
              </a:rPr>
              <a:t>원리까지 이해하기</a:t>
            </a:r>
            <a:endParaRPr sz="1400" b="0" dirty="0">
              <a:solidFill>
                <a:srgbClr val="222222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0666F9-68FC-44BD-B2BB-4B4D568F4B6C}"/>
              </a:ext>
            </a:extLst>
          </p:cNvPr>
          <p:cNvSpPr txBox="1"/>
          <p:nvPr/>
        </p:nvSpPr>
        <p:spPr>
          <a:xfrm>
            <a:off x="914400" y="4407408"/>
            <a:ext cx="2788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14213D"/>
                </a:solidFill>
                <a:latin typeface="Aptos"/>
              </a:rPr>
              <a:t>교육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목적</a:t>
            </a:r>
            <a:r>
              <a:rPr lang="en-US" sz="1300" b="1" dirty="0">
                <a:solidFill>
                  <a:srgbClr val="14213D"/>
                </a:solidFill>
                <a:latin typeface="Aptos"/>
              </a:rPr>
              <a:t>, 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AI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활용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수준에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따라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
전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교과목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체계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재설계</a:t>
            </a:r>
            <a:endParaRPr sz="1300" b="1" dirty="0">
              <a:solidFill>
                <a:srgbClr val="14213D"/>
              </a:solidFill>
              <a:latin typeface="Aptos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D0BFEC39-37E4-4805-85B0-A5DBCD35AD3B}"/>
              </a:ext>
            </a:extLst>
          </p:cNvPr>
          <p:cNvSpPr/>
          <p:nvPr/>
        </p:nvSpPr>
        <p:spPr>
          <a:xfrm>
            <a:off x="4133087" y="1874519"/>
            <a:ext cx="3246120" cy="34747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9CE109-26E0-4140-811B-D180837AF6D0}"/>
              </a:ext>
            </a:extLst>
          </p:cNvPr>
          <p:cNvSpPr txBox="1"/>
          <p:nvPr/>
        </p:nvSpPr>
        <p:spPr>
          <a:xfrm>
            <a:off x="4361688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57A6"/>
                </a:solidFill>
                <a:latin typeface="Aptos"/>
              </a:rPr>
              <a:t>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77C369-42DB-46E6-B7F6-15182F6B8934}"/>
              </a:ext>
            </a:extLst>
          </p:cNvPr>
          <p:cNvSpPr txBox="1"/>
          <p:nvPr/>
        </p:nvSpPr>
        <p:spPr>
          <a:xfrm>
            <a:off x="4361688" y="24963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ptos"/>
              </a:rPr>
              <a:t>AI-aware Education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D1643-A44A-4959-B48B-4D46EB37E891}"/>
              </a:ext>
            </a:extLst>
          </p:cNvPr>
          <p:cNvSpPr txBox="1"/>
          <p:nvPr/>
        </p:nvSpPr>
        <p:spPr>
          <a:xfrm>
            <a:off x="4361688" y="3063240"/>
            <a:ext cx="27889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>
                <a:solidFill>
                  <a:srgbClr val="222222"/>
                </a:solidFill>
                <a:latin typeface="Aptos"/>
              </a:rPr>
              <a:t>- </a:t>
            </a:r>
            <a:r>
              <a:rPr lang="en-US" sz="1400" b="0" dirty="0">
                <a:solidFill>
                  <a:srgbClr val="222222"/>
                </a:solidFill>
                <a:latin typeface="Aptos"/>
              </a:rPr>
              <a:t>AI</a:t>
            </a:r>
            <a:r>
              <a:rPr lang="ko-KR" altLang="en-US" sz="1400" b="0" dirty="0">
                <a:solidFill>
                  <a:srgbClr val="222222"/>
                </a:solidFill>
                <a:latin typeface="Aptos"/>
              </a:rPr>
              <a:t>가 학생이 고민하고   시행착오를 겪어야 하는 과정까지 대신해버리면 안된다</a:t>
            </a:r>
            <a:r>
              <a:rPr lang="en-US" altLang="ko-KR" sz="1400" b="0" dirty="0">
                <a:solidFill>
                  <a:srgbClr val="222222"/>
                </a:solidFill>
                <a:latin typeface="Aptos"/>
              </a:rPr>
              <a:t>.</a:t>
            </a:r>
          </a:p>
          <a:p>
            <a:pPr algn="l"/>
            <a:r>
              <a:rPr lang="en-US" altLang="ko-KR" sz="1400" dirty="0">
                <a:solidFill>
                  <a:srgbClr val="222222"/>
                </a:solidFill>
                <a:latin typeface="Aptos"/>
              </a:rPr>
              <a:t>- </a:t>
            </a:r>
            <a:r>
              <a:rPr lang="ko-KR" altLang="en-US" sz="1400" dirty="0">
                <a:solidFill>
                  <a:srgbClr val="222222"/>
                </a:solidFill>
                <a:latin typeface="Aptos"/>
              </a:rPr>
              <a:t>모든 수업에 똑같은 </a:t>
            </a:r>
            <a:r>
              <a:rPr lang="en-US" altLang="ko-KR" sz="1400" dirty="0">
                <a:solidFill>
                  <a:srgbClr val="222222"/>
                </a:solidFill>
                <a:latin typeface="Aptos"/>
              </a:rPr>
              <a:t>AI </a:t>
            </a:r>
            <a:r>
              <a:rPr lang="ko-KR" altLang="en-US" sz="1400" dirty="0">
                <a:solidFill>
                  <a:srgbClr val="222222"/>
                </a:solidFill>
                <a:latin typeface="Aptos"/>
              </a:rPr>
              <a:t>규칙을 적용할 수 없다</a:t>
            </a:r>
            <a:r>
              <a:rPr lang="en-US" altLang="ko-KR" sz="1400" dirty="0">
                <a:solidFill>
                  <a:srgbClr val="222222"/>
                </a:solidFill>
                <a:latin typeface="Aptos"/>
              </a:rPr>
              <a:t>.</a:t>
            </a:r>
            <a:endParaRPr sz="1400" b="0" dirty="0">
              <a:solidFill>
                <a:srgbClr val="222222"/>
              </a:solidFill>
              <a:latin typeface="Apto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6BCB6-C549-4BC1-B543-043EB3D12B08}"/>
              </a:ext>
            </a:extLst>
          </p:cNvPr>
          <p:cNvSpPr txBox="1"/>
          <p:nvPr/>
        </p:nvSpPr>
        <p:spPr>
          <a:xfrm>
            <a:off x="4361688" y="4407408"/>
            <a:ext cx="2788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14213D"/>
                </a:solidFill>
                <a:latin typeface="Aptos"/>
              </a:rPr>
              <a:t>AI가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학습을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대신하지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않도록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
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학습목표</a:t>
            </a:r>
            <a:r>
              <a:rPr lang="en-US" sz="1300" b="1" dirty="0">
                <a:solidFill>
                  <a:srgbClr val="14213D"/>
                </a:solidFill>
                <a:latin typeface="Aptos"/>
              </a:rPr>
              <a:t>,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평가를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의도적으로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설계</a:t>
            </a:r>
            <a:endParaRPr sz="1300" b="1" dirty="0">
              <a:solidFill>
                <a:srgbClr val="14213D"/>
              </a:solidFill>
              <a:latin typeface="Aptos"/>
            </a:endParaRP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99EB6C89-433C-48AC-8503-790EDFB76EC3}"/>
              </a:ext>
            </a:extLst>
          </p:cNvPr>
          <p:cNvSpPr/>
          <p:nvPr/>
        </p:nvSpPr>
        <p:spPr>
          <a:xfrm>
            <a:off x="7580375" y="1874519"/>
            <a:ext cx="3246120" cy="34747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4796CD-F291-441A-BA3E-8BC437B6C918}"/>
              </a:ext>
            </a:extLst>
          </p:cNvPr>
          <p:cNvSpPr txBox="1"/>
          <p:nvPr/>
        </p:nvSpPr>
        <p:spPr>
          <a:xfrm>
            <a:off x="7808975" y="21031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457A6"/>
                </a:solidFill>
                <a:latin typeface="Aptos"/>
              </a:rPr>
              <a:t>Brown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CD84D1-4D19-474E-B95C-29DC8C41A779}"/>
              </a:ext>
            </a:extLst>
          </p:cNvPr>
          <p:cNvSpPr txBox="1"/>
          <p:nvPr/>
        </p:nvSpPr>
        <p:spPr>
          <a:xfrm>
            <a:off x="7808975" y="2496312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213D"/>
                </a:solidFill>
                <a:latin typeface="Aptos"/>
              </a:rPr>
              <a:t>GAITL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D2ECE7-B19C-40E1-9C1C-1C7289E8FAE9}"/>
              </a:ext>
            </a:extLst>
          </p:cNvPr>
          <p:cNvSpPr txBox="1"/>
          <p:nvPr/>
        </p:nvSpPr>
        <p:spPr>
          <a:xfrm>
            <a:off x="7808975" y="3063240"/>
            <a:ext cx="2788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dirty="0">
                <a:solidFill>
                  <a:srgbClr val="222222"/>
                </a:solidFill>
                <a:latin typeface="Aptos"/>
              </a:rPr>
              <a:t>- 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No AI  ↔  Full Integration
</a:t>
            </a:r>
            <a:r>
              <a:rPr sz="1400" b="0" dirty="0" err="1">
                <a:solidFill>
                  <a:srgbClr val="222222"/>
                </a:solidFill>
                <a:latin typeface="Aptos"/>
              </a:rPr>
              <a:t>공통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Aptos"/>
              </a:rPr>
              <a:t>기준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 + </a:t>
            </a:r>
            <a:r>
              <a:rPr sz="1400" b="0" dirty="0" err="1">
                <a:solidFill>
                  <a:srgbClr val="222222"/>
                </a:solidFill>
                <a:latin typeface="Aptos"/>
              </a:rPr>
              <a:t>교수자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Aptos"/>
              </a:rPr>
              <a:t>자율성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
</a:t>
            </a:r>
            <a:r>
              <a:rPr lang="en-US" sz="1400" b="0" dirty="0">
                <a:solidFill>
                  <a:srgbClr val="222222"/>
                </a:solidFill>
                <a:latin typeface="Aptos"/>
              </a:rPr>
              <a:t>- </a:t>
            </a:r>
            <a:r>
              <a:rPr sz="1400" b="0" dirty="0">
                <a:solidFill>
                  <a:srgbClr val="222222"/>
                </a:solidFill>
                <a:latin typeface="Aptos"/>
              </a:rPr>
              <a:t>AI literacy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EFAC15-EE54-4E74-93DB-64A2F989BF17}"/>
              </a:ext>
            </a:extLst>
          </p:cNvPr>
          <p:cNvSpPr txBox="1"/>
          <p:nvPr/>
        </p:nvSpPr>
        <p:spPr>
          <a:xfrm>
            <a:off x="7808975" y="4407408"/>
            <a:ext cx="27889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14213D"/>
                </a:solidFill>
                <a:latin typeface="Aptos"/>
              </a:rPr>
              <a:t>과목</a:t>
            </a:r>
            <a:r>
              <a:rPr lang="en-US" sz="1300" b="1" dirty="0">
                <a:solidFill>
                  <a:srgbClr val="14213D"/>
                </a:solidFill>
                <a:latin typeface="Aptos"/>
              </a:rPr>
              <a:t>,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과제의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학습목표에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따라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
AI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허용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범위와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이유를</a:t>
            </a:r>
            <a:r>
              <a:rPr sz="1300" b="1" dirty="0">
                <a:solidFill>
                  <a:srgbClr val="14213D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4213D"/>
                </a:solidFill>
                <a:latin typeface="Aptos"/>
              </a:rPr>
              <a:t>명확화</a:t>
            </a:r>
            <a:endParaRPr sz="1300" b="1" dirty="0">
              <a:solidFill>
                <a:srgbClr val="14213D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E1C128-94D0-4CE4-834F-31E4758D8287}"/>
              </a:ext>
            </a:extLst>
          </p:cNvPr>
          <p:cNvSpPr txBox="1"/>
          <p:nvPr/>
        </p:nvSpPr>
        <p:spPr>
          <a:xfrm>
            <a:off x="836722" y="5567199"/>
            <a:ext cx="766800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공통 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: 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어떤 학습에는 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가 없어야 하고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, 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어떤 학습에는 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가 필요한가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?</a:t>
            </a:r>
            <a:endParaRPr kumimoji="1" lang="en-US" altLang="en-US" b="1" dirty="0">
              <a:ln>
                <a:solidFill>
                  <a:srgbClr val="D91962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55153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3BE0819-00A5-E943-A0F0-3AAF6EF06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8"/>
            <a:ext cx="928115" cy="2547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2EFCE7-037B-3648-B0EA-C1AC64F8BBD0}"/>
              </a:ext>
            </a:extLst>
          </p:cNvPr>
          <p:cNvSpPr txBox="1"/>
          <p:nvPr/>
        </p:nvSpPr>
        <p:spPr>
          <a:xfrm>
            <a:off x="565789" y="390688"/>
            <a:ext cx="3312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무엇을 가르칠 것인가</a:t>
            </a:r>
            <a:r>
              <a:rPr kumimoji="1" lang="en-US" altLang="ko-KR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?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07EC18A-C8B4-174C-B941-54F9E112B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29" y="6063255"/>
            <a:ext cx="2815296" cy="3152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42E13E7-A5AD-7141-82F0-8EE98DC359CF}"/>
              </a:ext>
            </a:extLst>
          </p:cNvPr>
          <p:cNvSpPr txBox="1"/>
          <p:nvPr/>
        </p:nvSpPr>
        <p:spPr>
          <a:xfrm>
            <a:off x="11336209" y="618512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>
                <a:solidFill>
                  <a:srgbClr val="498DCB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02</a:t>
            </a:r>
            <a:endParaRPr kumimoji="1" lang="ko-Kore-KR" altLang="en-US" sz="1000" dirty="0">
              <a:solidFill>
                <a:srgbClr val="498DCB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8B500E-24B5-476B-B710-938AE15CE98C}"/>
              </a:ext>
            </a:extLst>
          </p:cNvPr>
          <p:cNvSpPr txBox="1"/>
          <p:nvPr/>
        </p:nvSpPr>
        <p:spPr>
          <a:xfrm>
            <a:off x="565789" y="1882122"/>
            <a:ext cx="1074567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AI</a:t>
            </a: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를 쓰는 능력 만으로는 부족하다</a:t>
            </a:r>
            <a:endParaRPr kumimoji="1" lang="en-US" altLang="en-US" b="1" dirty="0">
              <a:ln>
                <a:solidFill>
                  <a:srgbClr val="D91962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FC300F5D-EC52-4CFF-BC37-6469CC50A047}"/>
              </a:ext>
            </a:extLst>
          </p:cNvPr>
          <p:cNvSpPr/>
          <p:nvPr/>
        </p:nvSpPr>
        <p:spPr>
          <a:xfrm>
            <a:off x="567267" y="2705468"/>
            <a:ext cx="2514600" cy="205740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C027CA-3391-455C-A73D-E7988EEA1642}"/>
              </a:ext>
            </a:extLst>
          </p:cNvPr>
          <p:cNvSpPr txBox="1"/>
          <p:nvPr/>
        </p:nvSpPr>
        <p:spPr>
          <a:xfrm>
            <a:off x="750147" y="29523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57A6"/>
                </a:solidFill>
                <a:latin typeface="Aptos"/>
              </a:rPr>
              <a:t>THINK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E76C7D-E87A-404C-97B8-C051DAD62CDC}"/>
              </a:ext>
            </a:extLst>
          </p:cNvPr>
          <p:cNvSpPr txBox="1"/>
          <p:nvPr/>
        </p:nvSpPr>
        <p:spPr>
          <a:xfrm>
            <a:off x="750147" y="34095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Aptos"/>
              </a:rPr>
              <a:t>스스로 생각한다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24FBE4-9A32-4C5D-A081-FA6A974A29FB}"/>
              </a:ext>
            </a:extLst>
          </p:cNvPr>
          <p:cNvSpPr txBox="1"/>
          <p:nvPr/>
        </p:nvSpPr>
        <p:spPr>
          <a:xfrm>
            <a:off x="750147" y="38759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문제를 정의하고
기초지식으로 접근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C6A0FA0E-882C-4A1D-AE3E-635E61BF2203}"/>
              </a:ext>
            </a:extLst>
          </p:cNvPr>
          <p:cNvSpPr/>
          <p:nvPr/>
        </p:nvSpPr>
        <p:spPr>
          <a:xfrm>
            <a:off x="3356187" y="2705468"/>
            <a:ext cx="2514600" cy="205740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8957A5-4D0D-48D8-B774-0062E8C0A8DB}"/>
              </a:ext>
            </a:extLst>
          </p:cNvPr>
          <p:cNvSpPr txBox="1"/>
          <p:nvPr/>
        </p:nvSpPr>
        <p:spPr>
          <a:xfrm>
            <a:off x="3539067" y="29523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57A6"/>
                </a:solidFill>
                <a:latin typeface="Aptos"/>
              </a:rPr>
              <a:t>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97E8B-EE1C-4F38-956C-D6B5507BFCD8}"/>
              </a:ext>
            </a:extLst>
          </p:cNvPr>
          <p:cNvSpPr txBox="1"/>
          <p:nvPr/>
        </p:nvSpPr>
        <p:spPr>
          <a:xfrm>
            <a:off x="3539067" y="34095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Aptos"/>
              </a:rPr>
              <a:t>AI를 활용한다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C46C88-6394-4F3C-8CA4-47C5626E9A6C}"/>
              </a:ext>
            </a:extLst>
          </p:cNvPr>
          <p:cNvSpPr txBox="1"/>
          <p:nvPr/>
        </p:nvSpPr>
        <p:spPr>
          <a:xfrm>
            <a:off x="3539067" y="38759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질문하고 탐색하고
대안을 생성</a:t>
            </a: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4673B075-BE70-4055-BE61-3DE6BB2B1CA3}"/>
              </a:ext>
            </a:extLst>
          </p:cNvPr>
          <p:cNvSpPr/>
          <p:nvPr/>
        </p:nvSpPr>
        <p:spPr>
          <a:xfrm>
            <a:off x="6145107" y="2705468"/>
            <a:ext cx="2514600" cy="205740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63E1F1-0BA0-4631-9678-B1B6D30F2AC7}"/>
              </a:ext>
            </a:extLst>
          </p:cNvPr>
          <p:cNvSpPr txBox="1"/>
          <p:nvPr/>
        </p:nvSpPr>
        <p:spPr>
          <a:xfrm>
            <a:off x="6327987" y="29523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457A6"/>
                </a:solidFill>
                <a:latin typeface="Aptos"/>
              </a:rPr>
              <a:t>JUDGE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2B6ABE-9C48-4F05-826D-51F282BC2238}"/>
              </a:ext>
            </a:extLst>
          </p:cNvPr>
          <p:cNvSpPr txBox="1"/>
          <p:nvPr/>
        </p:nvSpPr>
        <p:spPr>
          <a:xfrm>
            <a:off x="6327987" y="34095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Aptos"/>
              </a:rPr>
              <a:t>AI를 판단한다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1323CA-A4D9-4016-B9CB-8616275B441E}"/>
              </a:ext>
            </a:extLst>
          </p:cNvPr>
          <p:cNvSpPr txBox="1"/>
          <p:nvPr/>
        </p:nvSpPr>
        <p:spPr>
          <a:xfrm>
            <a:off x="6327987" y="38759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오류·편향을 찾고
근거를 검증</a:t>
            </a: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8670209E-026D-4AC3-87FF-42B8768A452C}"/>
              </a:ext>
            </a:extLst>
          </p:cNvPr>
          <p:cNvSpPr/>
          <p:nvPr/>
        </p:nvSpPr>
        <p:spPr>
          <a:xfrm>
            <a:off x="8934026" y="2705468"/>
            <a:ext cx="2514600" cy="205740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26CA6C-27C1-4873-A735-C4A572C114A5}"/>
              </a:ext>
            </a:extLst>
          </p:cNvPr>
          <p:cNvSpPr txBox="1"/>
          <p:nvPr/>
        </p:nvSpPr>
        <p:spPr>
          <a:xfrm>
            <a:off x="9116906" y="2952356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D5B"/>
                </a:solidFill>
                <a:latin typeface="Aptos"/>
              </a:rPr>
              <a:t>INTEGRATE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847B15-A054-4EB5-B57F-29E538F2F230}"/>
              </a:ext>
            </a:extLst>
          </p:cNvPr>
          <p:cNvSpPr txBox="1"/>
          <p:nvPr/>
        </p:nvSpPr>
        <p:spPr>
          <a:xfrm>
            <a:off x="9116906" y="3409556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4213D"/>
                </a:solidFill>
                <a:latin typeface="Aptos"/>
              </a:rPr>
              <a:t>전문성과 통합한다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A16BBB-4450-41C4-B3F6-995442249B62}"/>
              </a:ext>
            </a:extLst>
          </p:cNvPr>
          <p:cNvSpPr txBox="1"/>
          <p:nvPr/>
        </p:nvSpPr>
        <p:spPr>
          <a:xfrm>
            <a:off x="9116906" y="38759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AI 결과를 수정하고
전공지식과 결합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5353D4-2827-4176-B4A1-560822637C08}"/>
              </a:ext>
            </a:extLst>
          </p:cNvPr>
          <p:cNvSpPr txBox="1"/>
          <p:nvPr/>
        </p:nvSpPr>
        <p:spPr>
          <a:xfrm>
            <a:off x="6443144" y="4978033"/>
            <a:ext cx="5093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Aptos"/>
              </a:rPr>
              <a:t>Hackl et al. (2026)의 AI Literacy Heptagon을 교육행동으로 재구성</a:t>
            </a:r>
          </a:p>
        </p:txBody>
      </p:sp>
    </p:spTree>
    <p:extLst>
      <p:ext uri="{BB962C8B-B14F-4D97-AF65-F5344CB8AC3E}">
        <p14:creationId xmlns:p14="http://schemas.microsoft.com/office/powerpoint/2010/main" val="7793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380B1D61-2643-7F40-8E9C-6D338494EE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8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2E143-0151-4C4B-9E0E-83E94949B711}"/>
              </a:ext>
            </a:extLst>
          </p:cNvPr>
          <p:cNvSpPr txBox="1"/>
          <p:nvPr/>
        </p:nvSpPr>
        <p:spPr>
          <a:xfrm>
            <a:off x="785551" y="1137871"/>
            <a:ext cx="1086933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AI</a:t>
            </a: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를 처음부터 주지 않는 설계도 필요하다</a:t>
            </a:r>
            <a:endParaRPr kumimoji="1" lang="en-US" altLang="ko-KR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4B615-0A46-F544-860F-E7C8521D6F64}"/>
              </a:ext>
            </a:extLst>
          </p:cNvPr>
          <p:cNvSpPr txBox="1"/>
          <p:nvPr/>
        </p:nvSpPr>
        <p:spPr>
          <a:xfrm>
            <a:off x="565789" y="390688"/>
            <a:ext cx="3312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+mn-ea"/>
              </a:rPr>
              <a:t>어떻게 가르칠 것인가</a:t>
            </a:r>
            <a:r>
              <a:rPr kumimoji="1" lang="en-US" altLang="ko-KR" sz="2400" b="1" dirty="0">
                <a:solidFill>
                  <a:schemeClr val="bg1"/>
                </a:solidFill>
                <a:latin typeface="+mn-ea"/>
              </a:rPr>
              <a:t>?</a:t>
            </a:r>
            <a:endParaRPr kumimoji="1" lang="ko-Kore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0C904DA-A58E-4F4E-8AE5-3B51C441F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7"/>
            <a:ext cx="928115" cy="25477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A538FDA-FE97-B144-88F4-A968602DF48C}"/>
              </a:ext>
            </a:extLst>
          </p:cNvPr>
          <p:cNvSpPr txBox="1"/>
          <p:nvPr/>
        </p:nvSpPr>
        <p:spPr>
          <a:xfrm>
            <a:off x="11352393" y="639291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00" dirty="0">
                <a:solidFill>
                  <a:srgbClr val="D1D1D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03</a:t>
            </a:r>
            <a:endParaRPr kumimoji="1" lang="ko-Kore-KR" altLang="en-US" sz="1000" dirty="0">
              <a:solidFill>
                <a:srgbClr val="D1D1D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EDB61371-96FD-AD4F-9541-2A97E335D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913" y="6273714"/>
            <a:ext cx="2815296" cy="315255"/>
          </a:xfrm>
          <a:prstGeom prst="rect">
            <a:avLst/>
          </a:prstGeom>
        </p:spPr>
      </p:pic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B9160C5D-B703-4DAC-AE1E-55039DBFDE3A}"/>
              </a:ext>
            </a:extLst>
          </p:cNvPr>
          <p:cNvSpPr/>
          <p:nvPr/>
        </p:nvSpPr>
        <p:spPr>
          <a:xfrm>
            <a:off x="502920" y="2148840"/>
            <a:ext cx="1993392" cy="196596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E80CAF-40A1-46ED-BC1A-51C7A4888CF5}"/>
              </a:ext>
            </a:extLst>
          </p:cNvPr>
          <p:cNvSpPr txBox="1"/>
          <p:nvPr/>
        </p:nvSpPr>
        <p:spPr>
          <a:xfrm>
            <a:off x="621792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7A6F9D3F-F57A-41D6-878E-C848E03A53A8}"/>
              </a:ext>
            </a:extLst>
          </p:cNvPr>
          <p:cNvSpPr/>
          <p:nvPr/>
        </p:nvSpPr>
        <p:spPr>
          <a:xfrm>
            <a:off x="594360" y="2240280"/>
            <a:ext cx="384048" cy="384048"/>
          </a:xfrm>
          <a:prstGeom prst="ellipse">
            <a:avLst/>
          </a:prstGeom>
          <a:solidFill>
            <a:srgbClr val="2457A6"/>
          </a:solidFill>
          <a:ln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2C213-E3D7-4752-A20D-9AD0B277752C}"/>
              </a:ext>
            </a:extLst>
          </p:cNvPr>
          <p:cNvSpPr txBox="1"/>
          <p:nvPr/>
        </p:nvSpPr>
        <p:spPr>
          <a:xfrm>
            <a:off x="731520" y="27432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Aptos"/>
              </a:rPr>
              <a:t>HUMAN FIRST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DC6CD-9B60-441E-BB77-5E5B7F5D24BC}"/>
              </a:ext>
            </a:extLst>
          </p:cNvPr>
          <p:cNvSpPr txBox="1"/>
          <p:nvPr/>
        </p:nvSpPr>
        <p:spPr>
          <a:xfrm>
            <a:off x="685800" y="32004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학생이 먼저
문제 정의·초안</a:t>
            </a:r>
          </a:p>
        </p:txBody>
      </p:sp>
      <p:sp>
        <p:nvSpPr>
          <p:cNvPr id="16" name="Rounded Rectangle 10">
            <a:extLst>
              <a:ext uri="{FF2B5EF4-FFF2-40B4-BE49-F238E27FC236}">
                <a16:creationId xmlns:a16="http://schemas.microsoft.com/office/drawing/2014/main" id="{3CB82CD8-747A-41F5-A31E-8B423716E2B4}"/>
              </a:ext>
            </a:extLst>
          </p:cNvPr>
          <p:cNvSpPr/>
          <p:nvPr/>
        </p:nvSpPr>
        <p:spPr>
          <a:xfrm>
            <a:off x="2807208" y="2148840"/>
            <a:ext cx="1993392" cy="196596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07A414-8843-4FB7-BFF2-CA8A7A42E32C}"/>
              </a:ext>
            </a:extLst>
          </p:cNvPr>
          <p:cNvSpPr txBox="1"/>
          <p:nvPr/>
        </p:nvSpPr>
        <p:spPr>
          <a:xfrm>
            <a:off x="2926080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F3ABF87F-6DF5-4A1F-BA89-18AA65F79729}"/>
              </a:ext>
            </a:extLst>
          </p:cNvPr>
          <p:cNvSpPr/>
          <p:nvPr/>
        </p:nvSpPr>
        <p:spPr>
          <a:xfrm>
            <a:off x="2898648" y="2240280"/>
            <a:ext cx="384048" cy="384048"/>
          </a:xfrm>
          <a:prstGeom prst="ellipse">
            <a:avLst/>
          </a:prstGeom>
          <a:solidFill>
            <a:srgbClr val="2457A6"/>
          </a:solidFill>
          <a:ln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786650-3131-448D-ACEF-66405BCBECC4}"/>
              </a:ext>
            </a:extLst>
          </p:cNvPr>
          <p:cNvSpPr txBox="1"/>
          <p:nvPr/>
        </p:nvSpPr>
        <p:spPr>
          <a:xfrm>
            <a:off x="3035808" y="27432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Aptos"/>
              </a:rPr>
              <a:t>PEER THINKING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BA9715-5BCD-4B88-B37B-469B23E5A511}"/>
              </a:ext>
            </a:extLst>
          </p:cNvPr>
          <p:cNvSpPr txBox="1"/>
          <p:nvPr/>
        </p:nvSpPr>
        <p:spPr>
          <a:xfrm>
            <a:off x="2990088" y="32004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동료와 토론하고
수정</a:t>
            </a:r>
          </a:p>
        </p:txBody>
      </p:sp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D7947252-7BF6-452F-A1A9-4E1282FCB92B}"/>
              </a:ext>
            </a:extLst>
          </p:cNvPr>
          <p:cNvSpPr/>
          <p:nvPr/>
        </p:nvSpPr>
        <p:spPr>
          <a:xfrm>
            <a:off x="5111496" y="2148840"/>
            <a:ext cx="1993392" cy="196596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3AFE53E-A557-496B-8677-81745860FBFB}"/>
              </a:ext>
            </a:extLst>
          </p:cNvPr>
          <p:cNvSpPr txBox="1"/>
          <p:nvPr/>
        </p:nvSpPr>
        <p:spPr>
          <a:xfrm>
            <a:off x="5230368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Oval 17">
            <a:extLst>
              <a:ext uri="{FF2B5EF4-FFF2-40B4-BE49-F238E27FC236}">
                <a16:creationId xmlns:a16="http://schemas.microsoft.com/office/drawing/2014/main" id="{0179A625-E7CA-481F-A063-5190D425169D}"/>
              </a:ext>
            </a:extLst>
          </p:cNvPr>
          <p:cNvSpPr/>
          <p:nvPr/>
        </p:nvSpPr>
        <p:spPr>
          <a:xfrm>
            <a:off x="5202936" y="2240280"/>
            <a:ext cx="384048" cy="384048"/>
          </a:xfrm>
          <a:prstGeom prst="ellipse">
            <a:avLst/>
          </a:prstGeom>
          <a:solidFill>
            <a:srgbClr val="2457A6"/>
          </a:solidFill>
          <a:ln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0B8321-5A80-44F5-9F90-077D49F9D4B7}"/>
              </a:ext>
            </a:extLst>
          </p:cNvPr>
          <p:cNvSpPr txBox="1"/>
          <p:nvPr/>
        </p:nvSpPr>
        <p:spPr>
          <a:xfrm>
            <a:off x="5340096" y="27432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Aptos"/>
              </a:rPr>
              <a:t>AI SECOND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CD64D1-D7BB-4FFE-AF11-CC78031FC5C0}"/>
              </a:ext>
            </a:extLst>
          </p:cNvPr>
          <p:cNvSpPr txBox="1"/>
          <p:nvPr/>
        </p:nvSpPr>
        <p:spPr>
          <a:xfrm>
            <a:off x="5294376" y="32004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진전이 막힐 때
AI 투입</a:t>
            </a:r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558C8313-1B68-4319-9021-7888DB863F87}"/>
              </a:ext>
            </a:extLst>
          </p:cNvPr>
          <p:cNvSpPr/>
          <p:nvPr/>
        </p:nvSpPr>
        <p:spPr>
          <a:xfrm>
            <a:off x="7415784" y="2148840"/>
            <a:ext cx="1993392" cy="196596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185ED1-E505-4830-8B7A-251D01FD38A4}"/>
              </a:ext>
            </a:extLst>
          </p:cNvPr>
          <p:cNvSpPr txBox="1"/>
          <p:nvPr/>
        </p:nvSpPr>
        <p:spPr>
          <a:xfrm>
            <a:off x="7534656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Oval 22">
            <a:extLst>
              <a:ext uri="{FF2B5EF4-FFF2-40B4-BE49-F238E27FC236}">
                <a16:creationId xmlns:a16="http://schemas.microsoft.com/office/drawing/2014/main" id="{FBA9DB81-2401-4691-A575-6CEACFD5EA1E}"/>
              </a:ext>
            </a:extLst>
          </p:cNvPr>
          <p:cNvSpPr/>
          <p:nvPr/>
        </p:nvSpPr>
        <p:spPr>
          <a:xfrm>
            <a:off x="7507224" y="2240280"/>
            <a:ext cx="384048" cy="384048"/>
          </a:xfrm>
          <a:prstGeom prst="ellipse">
            <a:avLst/>
          </a:prstGeom>
          <a:solidFill>
            <a:srgbClr val="2457A6"/>
          </a:solidFill>
          <a:ln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3BDC68-16C7-45E1-A216-31E99A672345}"/>
              </a:ext>
            </a:extLst>
          </p:cNvPr>
          <p:cNvSpPr txBox="1"/>
          <p:nvPr/>
        </p:nvSpPr>
        <p:spPr>
          <a:xfrm>
            <a:off x="7644384" y="27432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Aptos"/>
              </a:rPr>
              <a:t>HUMAN JUDGMENT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AB006EB-FADA-4FD5-A512-D1679ED1F36C}"/>
              </a:ext>
            </a:extLst>
          </p:cNvPr>
          <p:cNvSpPr txBox="1"/>
          <p:nvPr/>
        </p:nvSpPr>
        <p:spPr>
          <a:xfrm>
            <a:off x="7598664" y="32004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Accept · Modify · Reject</a:t>
            </a:r>
          </a:p>
        </p:txBody>
      </p:sp>
      <p:sp>
        <p:nvSpPr>
          <p:cNvPr id="35" name="Rounded Rectangle 25">
            <a:extLst>
              <a:ext uri="{FF2B5EF4-FFF2-40B4-BE49-F238E27FC236}">
                <a16:creationId xmlns:a16="http://schemas.microsoft.com/office/drawing/2014/main" id="{4FBF440D-9BC9-458F-82C8-221310059423}"/>
              </a:ext>
            </a:extLst>
          </p:cNvPr>
          <p:cNvSpPr/>
          <p:nvPr/>
        </p:nvSpPr>
        <p:spPr>
          <a:xfrm>
            <a:off x="9720072" y="2148840"/>
            <a:ext cx="1993392" cy="196596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C03152-0950-4489-B722-8419D906450C}"/>
              </a:ext>
            </a:extLst>
          </p:cNvPr>
          <p:cNvSpPr txBox="1"/>
          <p:nvPr/>
        </p:nvSpPr>
        <p:spPr>
          <a:xfrm>
            <a:off x="9838944" y="22860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7" name="Oval 27">
            <a:extLst>
              <a:ext uri="{FF2B5EF4-FFF2-40B4-BE49-F238E27FC236}">
                <a16:creationId xmlns:a16="http://schemas.microsoft.com/office/drawing/2014/main" id="{49866700-ECB0-450B-8AD3-DF384C8CB85B}"/>
              </a:ext>
            </a:extLst>
          </p:cNvPr>
          <p:cNvSpPr/>
          <p:nvPr/>
        </p:nvSpPr>
        <p:spPr>
          <a:xfrm>
            <a:off x="9811512" y="2240280"/>
            <a:ext cx="384048" cy="384048"/>
          </a:xfrm>
          <a:prstGeom prst="ellipse">
            <a:avLst/>
          </a:prstGeom>
          <a:solidFill>
            <a:srgbClr val="2457A6"/>
          </a:solidFill>
          <a:ln>
            <a:solidFill>
              <a:srgbClr val="24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28BEEC-ED15-4078-B489-46FCF2B3C368}"/>
              </a:ext>
            </a:extLst>
          </p:cNvPr>
          <p:cNvSpPr txBox="1"/>
          <p:nvPr/>
        </p:nvSpPr>
        <p:spPr>
          <a:xfrm>
            <a:off x="9948672" y="27432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4213D"/>
                </a:solidFill>
                <a:latin typeface="Aptos"/>
              </a:rPr>
              <a:t>JUSTIFY &amp; REFLECT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E54A0D-5AE6-4226-804E-AEEAE118C44D}"/>
              </a:ext>
            </a:extLst>
          </p:cNvPr>
          <p:cNvSpPr txBox="1"/>
          <p:nvPr/>
        </p:nvSpPr>
        <p:spPr>
          <a:xfrm>
            <a:off x="9902952" y="3200400"/>
            <a:ext cx="16276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22222"/>
                </a:solidFill>
                <a:latin typeface="Aptos"/>
              </a:rPr>
              <a:t>판단 이유 기록
다시 수정</a:t>
            </a:r>
          </a:p>
        </p:txBody>
      </p:sp>
      <p:sp>
        <p:nvSpPr>
          <p:cNvPr id="40" name="Rounded Rectangle 30">
            <a:extLst>
              <a:ext uri="{FF2B5EF4-FFF2-40B4-BE49-F238E27FC236}">
                <a16:creationId xmlns:a16="http://schemas.microsoft.com/office/drawing/2014/main" id="{967AB97E-ABA8-4BBD-8370-214EC25932C8}"/>
              </a:ext>
            </a:extLst>
          </p:cNvPr>
          <p:cNvSpPr/>
          <p:nvPr/>
        </p:nvSpPr>
        <p:spPr>
          <a:xfrm>
            <a:off x="941832" y="4615597"/>
            <a:ext cx="10195560" cy="100584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6AD3E9E-4ADA-4345-8A17-BCEFB80B9DE4}"/>
              </a:ext>
            </a:extLst>
          </p:cNvPr>
          <p:cNvSpPr txBox="1"/>
          <p:nvPr/>
        </p:nvSpPr>
        <p:spPr>
          <a:xfrm>
            <a:off x="900254" y="4913179"/>
            <a:ext cx="10237137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 err="1">
                <a:solidFill>
                  <a:srgbClr val="14213D"/>
                </a:solidFill>
                <a:latin typeface="+mn-ea"/>
              </a:rPr>
              <a:t>교수설계의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질문은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“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AI를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허용할까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?”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에서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→ “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언제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AI를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투입하고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,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어떤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판단을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14213D"/>
                </a:solidFill>
                <a:latin typeface="+mn-ea"/>
              </a:rPr>
              <a:t>요구할까</a:t>
            </a:r>
            <a:r>
              <a:rPr sz="1900" b="1" dirty="0">
                <a:solidFill>
                  <a:srgbClr val="14213D"/>
                </a:solidFill>
                <a:latin typeface="+mn-ea"/>
              </a:rPr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1898819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D9152BF-2F79-4C47-8744-939397DB8906}"/>
              </a:ext>
            </a:extLst>
          </p:cNvPr>
          <p:cNvSpPr txBox="1"/>
          <p:nvPr/>
        </p:nvSpPr>
        <p:spPr>
          <a:xfrm>
            <a:off x="565789" y="390688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무엇을 평가할 것인가</a:t>
            </a:r>
            <a:r>
              <a:rPr kumimoji="1" lang="en-US" altLang="ko-KR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?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E070B20-F14C-CF44-8227-111F13A68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8"/>
            <a:ext cx="928115" cy="25477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B675189-A87B-BE4B-BAAE-A1F895A6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730" y="6056805"/>
            <a:ext cx="2815296" cy="31525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B864066-EDFB-AF42-9355-E11B324E82D6}"/>
              </a:ext>
            </a:extLst>
          </p:cNvPr>
          <p:cNvSpPr txBox="1"/>
          <p:nvPr/>
        </p:nvSpPr>
        <p:spPr>
          <a:xfrm>
            <a:off x="11190827" y="620545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>
                <a:solidFill>
                  <a:srgbClr val="498DCB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05</a:t>
            </a:r>
            <a:endParaRPr kumimoji="1" lang="ko-Kore-KR" altLang="en-US" sz="1000" dirty="0">
              <a:solidFill>
                <a:srgbClr val="498DCB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3E0D4A-EBC3-4EAD-8843-656CD64D40CF}"/>
              </a:ext>
            </a:extLst>
          </p:cNvPr>
          <p:cNvSpPr txBox="1"/>
          <p:nvPr/>
        </p:nvSpPr>
        <p:spPr>
          <a:xfrm>
            <a:off x="565789" y="1196322"/>
            <a:ext cx="1074567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최종 결과물만으로는 학생이 배웠는지 알기 어려워졌다</a:t>
            </a:r>
            <a:r>
              <a:rPr lang="en-US" altLang="ko-KR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.</a:t>
            </a:r>
            <a:endParaRPr kumimoji="1" lang="en-US" altLang="en-US" b="1" dirty="0">
              <a:ln>
                <a:solidFill>
                  <a:srgbClr val="D91962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EE4252-FA3C-4555-BEFC-A51597DD6DF8}"/>
              </a:ext>
            </a:extLst>
          </p:cNvPr>
          <p:cNvSpPr txBox="1"/>
          <p:nvPr/>
        </p:nvSpPr>
        <p:spPr>
          <a:xfrm>
            <a:off x="777240" y="1965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Aptos"/>
              </a:rPr>
              <a:t>BEFORE</a:t>
            </a: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E98F03E6-A851-44C0-8C87-15368A016DF5}"/>
              </a:ext>
            </a:extLst>
          </p:cNvPr>
          <p:cNvSpPr/>
          <p:nvPr/>
        </p:nvSpPr>
        <p:spPr>
          <a:xfrm>
            <a:off x="1965960" y="1783080"/>
            <a:ext cx="3794760" cy="73152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00417D-22E9-4194-96A5-4D88BE13DFB5}"/>
              </a:ext>
            </a:extLst>
          </p:cNvPr>
          <p:cNvSpPr txBox="1"/>
          <p:nvPr/>
        </p:nvSpPr>
        <p:spPr>
          <a:xfrm>
            <a:off x="2176272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22222"/>
                </a:solidFill>
                <a:latin typeface="Aptos"/>
              </a:rPr>
              <a:t>과제  →  제출  →  결과물  →  점수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893C75-E154-4B02-965A-A2D15CA8A7E2}"/>
              </a:ext>
            </a:extLst>
          </p:cNvPr>
          <p:cNvSpPr txBox="1"/>
          <p:nvPr/>
        </p:nvSpPr>
        <p:spPr>
          <a:xfrm>
            <a:off x="777240" y="2971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457A6"/>
                </a:solidFill>
                <a:latin typeface="Aptos"/>
              </a:rPr>
              <a:t>AI-AWARE</a:t>
            </a:r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86222381-E534-4452-A191-F11F79E300A1}"/>
              </a:ext>
            </a:extLst>
          </p:cNvPr>
          <p:cNvSpPr/>
          <p:nvPr/>
        </p:nvSpPr>
        <p:spPr>
          <a:xfrm>
            <a:off x="1965960" y="2761488"/>
            <a:ext cx="8915400" cy="82296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489002-1402-4500-955D-AACC2AEEBC4B}"/>
              </a:ext>
            </a:extLst>
          </p:cNvPr>
          <p:cNvSpPr txBox="1"/>
          <p:nvPr/>
        </p:nvSpPr>
        <p:spPr>
          <a:xfrm>
            <a:off x="2176272" y="3008376"/>
            <a:ext cx="8458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dirty="0" err="1">
                <a:solidFill>
                  <a:srgbClr val="14213D"/>
                </a:solidFill>
                <a:latin typeface="Aptos"/>
              </a:rPr>
              <a:t>문제정의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AI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사용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검증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판단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수정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정당화</a:t>
            </a:r>
            <a:r>
              <a:rPr sz="1800" b="1" dirty="0">
                <a:solidFill>
                  <a:srgbClr val="14213D"/>
                </a:solidFill>
                <a:latin typeface="Aptos"/>
              </a:rPr>
              <a:t> → </a:t>
            </a:r>
            <a:r>
              <a:rPr sz="1800" b="1" dirty="0" err="1">
                <a:solidFill>
                  <a:srgbClr val="14213D"/>
                </a:solidFill>
                <a:latin typeface="Aptos"/>
              </a:rPr>
              <a:t>결과물</a:t>
            </a:r>
            <a:endParaRPr sz="1800" b="1" dirty="0">
              <a:solidFill>
                <a:srgbClr val="14213D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DADB056-20CA-45FE-918B-CB10D68CF97D}"/>
              </a:ext>
            </a:extLst>
          </p:cNvPr>
          <p:cNvSpPr txBox="1"/>
          <p:nvPr/>
        </p:nvSpPr>
        <p:spPr>
          <a:xfrm>
            <a:off x="565789" y="3831336"/>
            <a:ext cx="10745678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ln>
                  <a:solidFill>
                    <a:srgbClr val="D91962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평가 할 수 있는 학습의 증거</a:t>
            </a:r>
            <a:endParaRPr kumimoji="1" lang="en-US" altLang="en-US" b="1" dirty="0">
              <a:ln>
                <a:solidFill>
                  <a:srgbClr val="D91962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sp>
        <p:nvSpPr>
          <p:cNvPr id="42" name="Rounded Rectangle 12">
            <a:extLst>
              <a:ext uri="{FF2B5EF4-FFF2-40B4-BE49-F238E27FC236}">
                <a16:creationId xmlns:a16="http://schemas.microsoft.com/office/drawing/2014/main" id="{CB478DD7-4209-4511-9D43-88EE684ACB47}"/>
              </a:ext>
            </a:extLst>
          </p:cNvPr>
          <p:cNvSpPr/>
          <p:nvPr/>
        </p:nvSpPr>
        <p:spPr>
          <a:xfrm>
            <a:off x="777240" y="4526280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48A7F5-5736-43F0-997C-704DD15366DF}"/>
              </a:ext>
            </a:extLst>
          </p:cNvPr>
          <p:cNvSpPr txBox="1"/>
          <p:nvPr/>
        </p:nvSpPr>
        <p:spPr>
          <a:xfrm>
            <a:off x="886968" y="46360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최초 초안</a:t>
            </a:r>
          </a:p>
        </p:txBody>
      </p:sp>
      <p:sp>
        <p:nvSpPr>
          <p:cNvPr id="44" name="Rounded Rectangle 14">
            <a:extLst>
              <a:ext uri="{FF2B5EF4-FFF2-40B4-BE49-F238E27FC236}">
                <a16:creationId xmlns:a16="http://schemas.microsoft.com/office/drawing/2014/main" id="{8B11A248-9501-4B2F-9EDD-7355C3E1AF1D}"/>
              </a:ext>
            </a:extLst>
          </p:cNvPr>
          <p:cNvSpPr/>
          <p:nvPr/>
        </p:nvSpPr>
        <p:spPr>
          <a:xfrm>
            <a:off x="3383280" y="4526280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F04C9C-371D-48D4-8827-945BD2CA7FF7}"/>
              </a:ext>
            </a:extLst>
          </p:cNvPr>
          <p:cNvSpPr txBox="1"/>
          <p:nvPr/>
        </p:nvSpPr>
        <p:spPr>
          <a:xfrm>
            <a:off x="3493008" y="46360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AI 질문·출력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48927D51-9BD4-401B-994B-79DC84374EFA}"/>
              </a:ext>
            </a:extLst>
          </p:cNvPr>
          <p:cNvSpPr/>
          <p:nvPr/>
        </p:nvSpPr>
        <p:spPr>
          <a:xfrm>
            <a:off x="5989320" y="4526280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3C56D6-C3A1-481A-BAA4-4A44B1C02C3A}"/>
              </a:ext>
            </a:extLst>
          </p:cNvPr>
          <p:cNvSpPr txBox="1"/>
          <p:nvPr/>
        </p:nvSpPr>
        <p:spPr>
          <a:xfrm>
            <a:off x="6099048" y="46360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검증 자료</a:t>
            </a:r>
          </a:p>
        </p:txBody>
      </p:sp>
      <p:sp>
        <p:nvSpPr>
          <p:cNvPr id="48" name="Rounded Rectangle 18">
            <a:extLst>
              <a:ext uri="{FF2B5EF4-FFF2-40B4-BE49-F238E27FC236}">
                <a16:creationId xmlns:a16="http://schemas.microsoft.com/office/drawing/2014/main" id="{DCED9B22-032B-4AB6-B140-A1818AED1A42}"/>
              </a:ext>
            </a:extLst>
          </p:cNvPr>
          <p:cNvSpPr/>
          <p:nvPr/>
        </p:nvSpPr>
        <p:spPr>
          <a:xfrm>
            <a:off x="8595360" y="4526280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9BEEF7-2260-47BE-8F0C-FA2AF4727824}"/>
              </a:ext>
            </a:extLst>
          </p:cNvPr>
          <p:cNvSpPr txBox="1"/>
          <p:nvPr/>
        </p:nvSpPr>
        <p:spPr>
          <a:xfrm>
            <a:off x="8705088" y="463600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채택/거부</a:t>
            </a:r>
          </a:p>
        </p:txBody>
      </p:sp>
      <p:sp>
        <p:nvSpPr>
          <p:cNvPr id="50" name="Rounded Rectangle 20">
            <a:extLst>
              <a:ext uri="{FF2B5EF4-FFF2-40B4-BE49-F238E27FC236}">
                <a16:creationId xmlns:a16="http://schemas.microsoft.com/office/drawing/2014/main" id="{8230F3AE-0915-4374-B366-E698E33FB076}"/>
              </a:ext>
            </a:extLst>
          </p:cNvPr>
          <p:cNvSpPr/>
          <p:nvPr/>
        </p:nvSpPr>
        <p:spPr>
          <a:xfrm>
            <a:off x="777240" y="5184648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F83E98-5AAD-493F-A039-64986E9CAE0B}"/>
              </a:ext>
            </a:extLst>
          </p:cNvPr>
          <p:cNvSpPr txBox="1"/>
          <p:nvPr/>
        </p:nvSpPr>
        <p:spPr>
          <a:xfrm>
            <a:off x="886968" y="52943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수정 전후</a:t>
            </a:r>
          </a:p>
        </p:txBody>
      </p:sp>
      <p:sp>
        <p:nvSpPr>
          <p:cNvPr id="52" name="Rounded Rectangle 22">
            <a:extLst>
              <a:ext uri="{FF2B5EF4-FFF2-40B4-BE49-F238E27FC236}">
                <a16:creationId xmlns:a16="http://schemas.microsoft.com/office/drawing/2014/main" id="{9686EABE-BA8E-478C-BD6A-38EE99C2F089}"/>
              </a:ext>
            </a:extLst>
          </p:cNvPr>
          <p:cNvSpPr/>
          <p:nvPr/>
        </p:nvSpPr>
        <p:spPr>
          <a:xfrm>
            <a:off x="3383280" y="5184648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5C5139-AA9E-4411-98D9-0E2C506D39E3}"/>
              </a:ext>
            </a:extLst>
          </p:cNvPr>
          <p:cNvSpPr txBox="1"/>
          <p:nvPr/>
        </p:nvSpPr>
        <p:spPr>
          <a:xfrm>
            <a:off x="3493008" y="52943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수정 이유</a:t>
            </a:r>
          </a:p>
        </p:txBody>
      </p:sp>
      <p:sp>
        <p:nvSpPr>
          <p:cNvPr id="54" name="Rounded Rectangle 24">
            <a:extLst>
              <a:ext uri="{FF2B5EF4-FFF2-40B4-BE49-F238E27FC236}">
                <a16:creationId xmlns:a16="http://schemas.microsoft.com/office/drawing/2014/main" id="{F26CC9A4-9FF5-4E6F-9FA2-348B04D70942}"/>
              </a:ext>
            </a:extLst>
          </p:cNvPr>
          <p:cNvSpPr/>
          <p:nvPr/>
        </p:nvSpPr>
        <p:spPr>
          <a:xfrm>
            <a:off x="5989320" y="5184648"/>
            <a:ext cx="2331720" cy="457200"/>
          </a:xfrm>
          <a:prstGeom prst="roundRect">
            <a:avLst/>
          </a:prstGeom>
          <a:solidFill>
            <a:srgbClr val="F5F6F8"/>
          </a:solidFill>
          <a:ln>
            <a:solidFill>
              <a:srgbClr val="F5F6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9F469C-37D5-405A-A782-075636956DCB}"/>
              </a:ext>
            </a:extLst>
          </p:cNvPr>
          <p:cNvSpPr txBox="1"/>
          <p:nvPr/>
        </p:nvSpPr>
        <p:spPr>
          <a:xfrm>
            <a:off x="6099048" y="529437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2222"/>
                </a:solidFill>
                <a:latin typeface="Aptos"/>
              </a:rPr>
              <a:t>최종 산출물</a:t>
            </a:r>
          </a:p>
        </p:txBody>
      </p:sp>
    </p:spTree>
    <p:extLst>
      <p:ext uri="{BB962C8B-B14F-4D97-AF65-F5344CB8AC3E}">
        <p14:creationId xmlns:p14="http://schemas.microsoft.com/office/powerpoint/2010/main" val="188200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직사각형 57">
            <a:extLst>
              <a:ext uri="{FF2B5EF4-FFF2-40B4-BE49-F238E27FC236}">
                <a16:creationId xmlns:a16="http://schemas.microsoft.com/office/drawing/2014/main" id="{B5B34BB3-3195-D546-B0E9-3E69DFECF0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8D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03C1A5-CF55-4541-8376-C219ACAC47EE}"/>
              </a:ext>
            </a:extLst>
          </p:cNvPr>
          <p:cNvSpPr txBox="1"/>
          <p:nvPr/>
        </p:nvSpPr>
        <p:spPr>
          <a:xfrm>
            <a:off x="565789" y="39068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bg1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결론</a:t>
            </a:r>
            <a:endParaRPr kumimoji="1" lang="ko-Kore-KR" altLang="en-US" sz="2400" b="1" dirty="0">
              <a:solidFill>
                <a:schemeClr val="bg1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59" name="그림 58">
            <a:extLst>
              <a:ext uri="{FF2B5EF4-FFF2-40B4-BE49-F238E27FC236}">
                <a16:creationId xmlns:a16="http://schemas.microsoft.com/office/drawing/2014/main" id="{4B0609C8-9417-0741-8664-FCD5EB8C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7"/>
            <a:ext cx="928115" cy="2547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0778EFC4-89AB-F147-8956-E388EB119959}"/>
              </a:ext>
            </a:extLst>
          </p:cNvPr>
          <p:cNvSpPr txBox="1"/>
          <p:nvPr/>
        </p:nvSpPr>
        <p:spPr>
          <a:xfrm>
            <a:off x="11336209" y="618512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>
                <a:solidFill>
                  <a:srgbClr val="D1D1D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06</a:t>
            </a:r>
            <a:endParaRPr kumimoji="1" lang="ko-Kore-KR" altLang="en-US" sz="1000" dirty="0">
              <a:solidFill>
                <a:srgbClr val="D1D1D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4C14CB57-BE61-5845-BE22-770402F4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729" y="6065922"/>
            <a:ext cx="2815296" cy="3152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F357843-6A90-4098-8D24-5FBB8AA18980}"/>
              </a:ext>
            </a:extLst>
          </p:cNvPr>
          <p:cNvSpPr txBox="1"/>
          <p:nvPr/>
        </p:nvSpPr>
        <p:spPr>
          <a:xfrm>
            <a:off x="785551" y="1137871"/>
            <a:ext cx="1086933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AI</a:t>
            </a:r>
            <a:r>
              <a:rPr kumimoji="1" lang="ko-KR" alt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시대 교육에서 해야 할 것은 무엇인가</a:t>
            </a:r>
            <a:r>
              <a:rPr kumimoji="1" lang="en-US" altLang="ko-KR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?</a:t>
            </a:r>
            <a:endParaRPr kumimoji="1" lang="en-US" altLang="ko-KR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8" name="Rounded Rectangle 4">
            <a:extLst>
              <a:ext uri="{FF2B5EF4-FFF2-40B4-BE49-F238E27FC236}">
                <a16:creationId xmlns:a16="http://schemas.microsoft.com/office/drawing/2014/main" id="{ACA4CD73-CDC0-49C8-AF04-F8043A88B34B}"/>
              </a:ext>
            </a:extLst>
          </p:cNvPr>
          <p:cNvSpPr/>
          <p:nvPr/>
        </p:nvSpPr>
        <p:spPr>
          <a:xfrm>
            <a:off x="685800" y="1920240"/>
            <a:ext cx="2487168" cy="141732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9997E4-514C-4682-B1D9-DA3019AB3073}"/>
              </a:ext>
            </a:extLst>
          </p:cNvPr>
          <p:cNvSpPr txBox="1"/>
          <p:nvPr/>
        </p:nvSpPr>
        <p:spPr>
          <a:xfrm>
            <a:off x="822960" y="217627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ptos"/>
              </a:rPr>
              <a:t>AI FREE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16DFA9-F090-4344-84EF-1D3CBC59799D}"/>
              </a:ext>
            </a:extLst>
          </p:cNvPr>
          <p:cNvSpPr txBox="1"/>
          <p:nvPr/>
        </p:nvSpPr>
        <p:spPr>
          <a:xfrm>
            <a:off x="822960" y="2587752"/>
            <a:ext cx="2212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Aptos"/>
              </a:rPr>
              <a:t>AI 없이도
생각할 수 있다</a:t>
            </a:r>
          </a:p>
        </p:txBody>
      </p:sp>
      <p:sp>
        <p:nvSpPr>
          <p:cNvPr id="31" name="Rounded Rectangle 7">
            <a:extLst>
              <a:ext uri="{FF2B5EF4-FFF2-40B4-BE49-F238E27FC236}">
                <a16:creationId xmlns:a16="http://schemas.microsoft.com/office/drawing/2014/main" id="{1CF30E03-27F2-4730-959D-022DA0B05F1D}"/>
              </a:ext>
            </a:extLst>
          </p:cNvPr>
          <p:cNvSpPr/>
          <p:nvPr/>
        </p:nvSpPr>
        <p:spPr>
          <a:xfrm>
            <a:off x="3456432" y="1920240"/>
            <a:ext cx="2487168" cy="141732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8516C6-BDD6-4A0F-B838-614CF3378EAE}"/>
              </a:ext>
            </a:extLst>
          </p:cNvPr>
          <p:cNvSpPr txBox="1"/>
          <p:nvPr/>
        </p:nvSpPr>
        <p:spPr>
          <a:xfrm>
            <a:off x="3593591" y="217627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ptos"/>
              </a:rPr>
              <a:t>AI USE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9DC5B0-CF9A-4BC3-859D-08AAE3ECD71F}"/>
              </a:ext>
            </a:extLst>
          </p:cNvPr>
          <p:cNvSpPr txBox="1"/>
          <p:nvPr/>
        </p:nvSpPr>
        <p:spPr>
          <a:xfrm>
            <a:off x="3593591" y="2587752"/>
            <a:ext cx="2212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Aptos"/>
              </a:rPr>
              <a:t>AI를 활용해
더 넓게 탐색한다</a:t>
            </a:r>
          </a:p>
        </p:txBody>
      </p:sp>
      <p:sp>
        <p:nvSpPr>
          <p:cNvPr id="34" name="Rounded Rectangle 10">
            <a:extLst>
              <a:ext uri="{FF2B5EF4-FFF2-40B4-BE49-F238E27FC236}">
                <a16:creationId xmlns:a16="http://schemas.microsoft.com/office/drawing/2014/main" id="{EB8C1FD2-53BF-43CE-AD1C-00AC1EA6D282}"/>
              </a:ext>
            </a:extLst>
          </p:cNvPr>
          <p:cNvSpPr/>
          <p:nvPr/>
        </p:nvSpPr>
        <p:spPr>
          <a:xfrm>
            <a:off x="6227064" y="1920240"/>
            <a:ext cx="2487168" cy="1417320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4EFCBE-DEE9-4997-909A-FF69CA0D2165}"/>
              </a:ext>
            </a:extLst>
          </p:cNvPr>
          <p:cNvSpPr txBox="1"/>
          <p:nvPr/>
        </p:nvSpPr>
        <p:spPr>
          <a:xfrm>
            <a:off x="6364224" y="217627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457A6"/>
                </a:solidFill>
                <a:latin typeface="Aptos"/>
              </a:rPr>
              <a:t>AI JUDGE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97FFE7B-1DF3-469D-B5D7-6A8A59D3168F}"/>
              </a:ext>
            </a:extLst>
          </p:cNvPr>
          <p:cNvSpPr txBox="1"/>
          <p:nvPr/>
        </p:nvSpPr>
        <p:spPr>
          <a:xfrm>
            <a:off x="6364224" y="2587752"/>
            <a:ext cx="2212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Aptos"/>
              </a:rPr>
              <a:t>AI의 답을
검증·판단한다</a:t>
            </a:r>
          </a:p>
        </p:txBody>
      </p:sp>
      <p:sp>
        <p:nvSpPr>
          <p:cNvPr id="38" name="Rounded Rectangle 13">
            <a:extLst>
              <a:ext uri="{FF2B5EF4-FFF2-40B4-BE49-F238E27FC236}">
                <a16:creationId xmlns:a16="http://schemas.microsoft.com/office/drawing/2014/main" id="{AA55802D-5D1F-4720-A33B-52F7F41E88C3}"/>
              </a:ext>
            </a:extLst>
          </p:cNvPr>
          <p:cNvSpPr/>
          <p:nvPr/>
        </p:nvSpPr>
        <p:spPr>
          <a:xfrm>
            <a:off x="8997696" y="1920240"/>
            <a:ext cx="2487168" cy="1417320"/>
          </a:xfrm>
          <a:prstGeom prst="roundRect">
            <a:avLst/>
          </a:prstGeom>
          <a:solidFill>
            <a:srgbClr val="E8F5EE"/>
          </a:solidFill>
          <a:ln>
            <a:solidFill>
              <a:srgbClr val="E8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EFF8AA-9F51-49B7-9296-3A69F9C9CE2B}"/>
              </a:ext>
            </a:extLst>
          </p:cNvPr>
          <p:cNvSpPr txBox="1"/>
          <p:nvPr/>
        </p:nvSpPr>
        <p:spPr>
          <a:xfrm>
            <a:off x="9134856" y="2176272"/>
            <a:ext cx="22128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5B"/>
                </a:solidFill>
                <a:latin typeface="Aptos"/>
              </a:rPr>
              <a:t>AI INTEGRATE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5CBC3DD-F036-45B1-A628-EB4BFE588A9D}"/>
              </a:ext>
            </a:extLst>
          </p:cNvPr>
          <p:cNvSpPr txBox="1"/>
          <p:nvPr/>
        </p:nvSpPr>
        <p:spPr>
          <a:xfrm>
            <a:off x="9134856" y="2587752"/>
            <a:ext cx="22128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213D"/>
                </a:solidFill>
                <a:latin typeface="Aptos"/>
              </a:rPr>
              <a:t>AI와 전문성을
통합해 해결한다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518D430-7F25-4722-B8CF-27E024AF88A8}"/>
              </a:ext>
            </a:extLst>
          </p:cNvPr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66666"/>
                </a:solidFill>
                <a:latin typeface="Aptos"/>
              </a:rPr>
              <a:t>평가의 이동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FF78DB-9CC7-462B-8875-70E5F6411929}"/>
              </a:ext>
            </a:extLst>
          </p:cNvPr>
          <p:cNvSpPr txBox="1"/>
          <p:nvPr/>
        </p:nvSpPr>
        <p:spPr>
          <a:xfrm>
            <a:off x="731520" y="43159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Aptos"/>
              </a:rPr>
              <a:t>정답 → 문제정의    |    결과물 → 과정+결과    |    AI 사용 여부 → 판단의 질    |    한 번의 제출 → 검증·수정·성찰</a:t>
            </a:r>
          </a:p>
        </p:txBody>
      </p:sp>
      <p:sp>
        <p:nvSpPr>
          <p:cNvPr id="50" name="Rounded Rectangle 18">
            <a:extLst>
              <a:ext uri="{FF2B5EF4-FFF2-40B4-BE49-F238E27FC236}">
                <a16:creationId xmlns:a16="http://schemas.microsoft.com/office/drawing/2014/main" id="{A8290F6B-7CF9-43ED-8781-2FDFDB294734}"/>
              </a:ext>
            </a:extLst>
          </p:cNvPr>
          <p:cNvSpPr/>
          <p:nvPr/>
        </p:nvSpPr>
        <p:spPr>
          <a:xfrm>
            <a:off x="127000" y="4861774"/>
            <a:ext cx="11938000" cy="868680"/>
          </a:xfrm>
          <a:prstGeom prst="roundRect">
            <a:avLst/>
          </a:prstGeom>
          <a:solidFill>
            <a:srgbClr val="14213D"/>
          </a:solidFill>
          <a:ln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8B9754-2B28-4713-8E98-10DA3DA5349E}"/>
              </a:ext>
            </a:extLst>
          </p:cNvPr>
          <p:cNvSpPr txBox="1"/>
          <p:nvPr/>
        </p:nvSpPr>
        <p:spPr>
          <a:xfrm>
            <a:off x="228430" y="5090374"/>
            <a:ext cx="117351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 err="1">
                <a:solidFill>
                  <a:srgbClr val="FFFFFF"/>
                </a:solidFill>
                <a:latin typeface="Aptos"/>
              </a:rPr>
              <a:t>AI가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만든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답이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아니라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, 그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답을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다루는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과정에서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드러난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인간의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사고와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판단을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가르치고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Aptos"/>
              </a:rPr>
              <a:t>평가한다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06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D9152BF-2F79-4C47-8744-939397DB8906}"/>
              </a:ext>
            </a:extLst>
          </p:cNvPr>
          <p:cNvSpPr txBox="1"/>
          <p:nvPr/>
        </p:nvSpPr>
        <p:spPr>
          <a:xfrm>
            <a:off x="565789" y="390688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참고 문헌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E070B20-F14C-CF44-8227-111F13A68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770" y="467118"/>
            <a:ext cx="928115" cy="25477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B675189-A87B-BE4B-BAAE-A1F895A6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730" y="6056805"/>
            <a:ext cx="2815296" cy="31525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B864066-EDFB-AF42-9355-E11B324E82D6}"/>
              </a:ext>
            </a:extLst>
          </p:cNvPr>
          <p:cNvSpPr txBox="1"/>
          <p:nvPr/>
        </p:nvSpPr>
        <p:spPr>
          <a:xfrm>
            <a:off x="11190827" y="620545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000" dirty="0">
                <a:solidFill>
                  <a:srgbClr val="498DCB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05</a:t>
            </a:r>
            <a:endParaRPr kumimoji="1" lang="ko-Kore-KR" altLang="en-US" sz="1000" dirty="0">
              <a:solidFill>
                <a:srgbClr val="498DCB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67091B-050C-40E0-820B-013B2E7F565F}"/>
              </a:ext>
            </a:extLst>
          </p:cNvPr>
          <p:cNvSpPr txBox="1"/>
          <p:nvPr/>
        </p:nvSpPr>
        <p:spPr>
          <a:xfrm>
            <a:off x="440266" y="1252773"/>
            <a:ext cx="113114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Generative AI in Teaching and Learning Committee. (2026, July). </a:t>
            </a:r>
            <a:r>
              <a:rPr lang="en-US" altLang="ko-KR" i="1" dirty="0"/>
              <a:t>Generative AI in teaching and learning (GAITL) committee final report and recommendations</a:t>
            </a:r>
            <a:r>
              <a:rPr lang="en-US" altLang="ko-KR" dirty="0"/>
              <a:t>. Brown University. </a:t>
            </a:r>
            <a:r>
              <a:rPr lang="en-US" altLang="ko-KR" dirty="0">
                <a:hlinkClick r:id="rId4"/>
              </a:rPr>
              <a:t>https://provost.brown.edu/sites/default/files/GAITL_Committee_Report_FNL.pdf provost.brown.edu</a:t>
            </a:r>
            <a:endParaRPr lang="en-US" altLang="ko-KR" dirty="0"/>
          </a:p>
          <a:p>
            <a:r>
              <a:rPr lang="en-US" altLang="ko-KR" dirty="0"/>
              <a:t>Hackl, V., Müller, A. E., &amp; </a:t>
            </a:r>
            <a:r>
              <a:rPr lang="en-US" altLang="ko-KR" dirty="0" err="1"/>
              <a:t>Sailer</a:t>
            </a:r>
            <a:r>
              <a:rPr lang="en-US" altLang="ko-KR" dirty="0"/>
              <a:t>, M. (2026). </a:t>
            </a:r>
            <a:r>
              <a:rPr lang="en-US" altLang="ko-KR" i="1" dirty="0"/>
              <a:t>The AI literacy heptagon: A structured approach to AI literacy in higher education. </a:t>
            </a:r>
            <a:r>
              <a:rPr lang="en-US" altLang="ko-KR" dirty="0"/>
              <a:t>Computers and Education: Artificial Intelligence, 10, 100540.</a:t>
            </a:r>
          </a:p>
          <a:p>
            <a:r>
              <a:rPr lang="en-US" altLang="ko-KR" dirty="0"/>
              <a:t>MIT Ad Hoc Committee on AI Use in Teaching, Learning, and Research Training. (2026, August 13). </a:t>
            </a:r>
            <a:r>
              <a:rPr lang="en-US" altLang="ko-KR" i="1" dirty="0"/>
              <a:t>Report of MIT’s ad hoc committee on AI use in teaching, learning, and research training</a:t>
            </a:r>
            <a:r>
              <a:rPr lang="en-US" altLang="ko-KR" dirty="0"/>
              <a:t>. Massachusetts Institute of Technology. </a:t>
            </a:r>
            <a:r>
              <a:rPr lang="en-US" altLang="ko-KR" dirty="0">
                <a:hlinkClick r:id="rId5"/>
              </a:rPr>
              <a:t>https://aiandeducation.mit.edu/</a:t>
            </a:r>
            <a:endParaRPr lang="en-US" altLang="ko-KR" dirty="0"/>
          </a:p>
          <a:p>
            <a:r>
              <a:rPr lang="en-US" altLang="ko-KR" dirty="0"/>
              <a:t>Yang, Y., Chen, L., Sun, D., Zhu, W., &amp; Pang, S. (2026). </a:t>
            </a:r>
            <a:r>
              <a:rPr lang="en-US" altLang="ko-KR" i="1" dirty="0"/>
              <a:t>Fostering preservice teachers' design thinking by integrating generative AI and analytics-supported reflective assessment in a collaborative inquiry environment</a:t>
            </a:r>
            <a:r>
              <a:rPr lang="en-US" altLang="ko-KR" dirty="0"/>
              <a:t>. Computers &amp; Education, 249, 105602.</a:t>
            </a:r>
          </a:p>
        </p:txBody>
      </p:sp>
    </p:spTree>
    <p:extLst>
      <p:ext uri="{BB962C8B-B14F-4D97-AF65-F5344CB8AC3E}">
        <p14:creationId xmlns:p14="http://schemas.microsoft.com/office/powerpoint/2010/main" val="965054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68E0BBC-0579-7342-949F-4ACEE8490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9CF7FC-D85C-40C4-9624-772954247BEB}"/>
              </a:ext>
            </a:extLst>
          </p:cNvPr>
          <p:cNvSpPr txBox="1"/>
          <p:nvPr/>
        </p:nvSpPr>
        <p:spPr>
          <a:xfrm>
            <a:off x="5778943" y="3198167"/>
            <a:ext cx="1726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>
                <a:solidFill>
                  <a:srgbClr val="498DCB"/>
                </a:solidFill>
                <a:latin typeface="NanumSquare ExtraBold" panose="020B0600000101010101" pitchFamily="34" charset="-127"/>
                <a:ea typeface="NanumSquare ExtraBold" panose="020B0600000101010101" pitchFamily="34" charset="-127"/>
              </a:rPr>
              <a:t>Thank you</a:t>
            </a:r>
            <a:endParaRPr kumimoji="1" lang="ko-Kore-KR" altLang="en-US" sz="2400" b="1" dirty="0">
              <a:solidFill>
                <a:srgbClr val="498DCB"/>
              </a:solidFill>
              <a:latin typeface="NanumSquare ExtraBold" panose="020B0600000101010101" pitchFamily="34" charset="-127"/>
              <a:ea typeface="NanumSquare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042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2154</TotalTime>
  <Words>654</Words>
  <Application>Microsoft Office PowerPoint</Application>
  <PresentationFormat>와이드스크린</PresentationFormat>
  <Paragraphs>103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Aptos</vt:lpstr>
      <vt:lpstr>NanumSquare</vt:lpstr>
      <vt:lpstr>NanumSquare Bold</vt:lpstr>
      <vt:lpstr>NanumSquare ExtraBold</vt:lpstr>
      <vt:lpstr>Malgun Gothic</vt:lpstr>
      <vt:lpstr>Malgun Gothic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박근용</dc:creator>
  <cp:lastModifiedBy>USER</cp:lastModifiedBy>
  <cp:revision>75</cp:revision>
  <dcterms:created xsi:type="dcterms:W3CDTF">2021-06-15T11:56:17Z</dcterms:created>
  <dcterms:modified xsi:type="dcterms:W3CDTF">2026-10-02T00:38:42Z</dcterms:modified>
</cp:coreProperties>
</file>