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EBB038F-1BDB-2E3B-66CA-13B32FDCE6DA}">
          <p14:sldIdLst>
            <p14:sldId id="256"/>
          </p14:sldIdLst>
        </p14:section>
        <p14:section name="기관 소개" id="{418CB3C1-E614-4544-B243-A6A79776EE2C}">
          <p14:sldIdLst>
            <p14:sldId id="257"/>
          </p14:sldIdLst>
        </p14:section>
        <p14:section name="세션 1. 온라인 강좌" id="{8C24F1E7-6BB3-BA4B-0442-707B776F71F7}">
          <p14:sldIdLst>
            <p14:sldId id="258"/>
            <p14:sldId id="259"/>
            <p14:sldId id="260"/>
            <p14:sldId id="261"/>
            <p14:sldId id="262"/>
          </p14:sldIdLst>
        </p14:section>
        <p14:section name="세션 2. AI 적용 업무" id="{64CDADF6-43B7-63CE-D592-AFEB5C908E03}">
          <p14:sldIdLst>
            <p14:sldId id="263"/>
            <p14:sldId id="264"/>
            <p14:sldId id="265"/>
            <p14:sldId id="266"/>
          </p14:sldIdLst>
        </p14:section>
        <p14:section name="세션 3. 교육과 평가" id="{5F211D40-3C9E-AEBB-339D-DBEE98E55815}">
          <p14:sldIdLst>
            <p14:sldId id="267"/>
            <p14:sldId id="268"/>
            <p14:sldId id="269"/>
            <p14:sldId id="270"/>
          </p14:sldIdLst>
        </p14:section>
        <p14:section name="맺음" id="{D1C1D1C1-3C8B-745C-F8D2-301BD563483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28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순서: 세션1 온라인 강좌 운영 방안과 미래 → 세션2 AI 적용 업무 추진 현황과 계획 → 세션3 AI 시대 교육·평가의 방향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UST는 출연연이 연합으로 설립한 대학원대학으로, 학생이 여러 출연연 스쿨에 흩어져 있음. 이 때문에 온라인 강좌는 보조 수단이 아니라 교과 다양성을 보완하는 핵심 수단으로 기능함.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트랙: MOOC(대외 공개), SPOC(학내 정규 교과 보완), 글로벌 MOOC 수강료 환급(외부 우수 강좌 활용). 글로벌 MOOC 환급은 예산편성 사정상 매년 3월경 시작해 10월 말 마감.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개발 규모: MOOC 2개(12주), SPOC 2개(8주), 교원역량 영상 8편(20분, 영어자막 생성 및 기존 영상 합성 포함). 예산 8,200만 원. 10월 6일 제안평가(5개 업체) 완료, 현재 기술협상 단계. ※ 발표 시점 진행 단계는 최신화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센터 방침: MOOC 신규 제작은 2026년 4건(당초 6건에서 축소)으로 마무리, 2027년부터 SPOC 중심으로 전환. 기존 영상의 활용 활성화를 병행. 그 근거는 분산 캠퍼스 구조에서 학내 교과 보완 수요가 가장 크다는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연합 차원 제안 사항. 각 기관이 신규 제작 비용을 각자 부담하는 구조에서 벗어나, 기존 강좌의 공동 활용과 재활용, 공통 성과지표를 중심으로 플랫폼 가치를 높이자는 취지.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UST는 직원 생성형 AI 이용료를 지원하고 연간 활용 실적을 결과보고로 관리하고 있음. 활용 영역: 문서 초안, 규정 검토, 교차 점검, 평가 보조(30건 계획서 대상 복수 AI 비교 평가 시범), 콘텐츠 영어자막. ※ 기관 공식 AI 정책(이용료 지원 범위, 가이드라인 존재 여부)은 발표 전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보조 수단으로 활용하고 최종 확인·판단은 담당자와 위원회가 수행한다는 원칙. 담당자 퇴직 등 업무 공백 상황에서 인수인계 부담을 줄이는 데도 효과가 있었음.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경진대회는 출연연 보유 데이터를 문제로 활용하는 UST 고유 모델로 기획 중. 연구 스킬(AI 에이전트) 축적 플랫폼(가칭 UST-GPT)은 구상 단계. ※ 경진대회 개최 여부·시기, 플랫폼 구상 공개 범위는 발표 전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그럴듯한 답을 즉시 제공하는 환경에서, 교육의 초점은 답을 아는 것에서 무엇을 물을지, 그 답이 맞는지 어떻게 확인할지로 이동함.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 학생은 재학 중 출연연 연구과제에 직접 참여하며 연구원에게 1:1로 지도받음. 문제 설정, 검증, 윤리, 협업은 현장에서 몸으로 익히는 역량으로, AI가 대신하기 어려움.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온라인 강좌의 경우 퀴즈·과제만으로는 AI 대리 수행을 막기 어려움. SPOC은 오프라인 토론·구술과 결합한 블렌디드 평가로 보완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3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UST 융합교육센터 | STAR-MOOC 연합 워크숍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UST 이러닝·AI 추진 현황과 과제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STAR-MOOC 연합 워크숍 |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accent5"/>
                </a:solidFill>
              </a:rPr>
              <a:t>과학기술연합대학원대학교</a:t>
            </a:r>
            <a:r>
              <a:rPr lang="en-US" sz="1600" dirty="0">
                <a:solidFill>
                  <a:schemeClr val="accent5"/>
                </a:solidFill>
              </a:rPr>
              <a:t>(UST) </a:t>
            </a:r>
            <a:r>
              <a:rPr lang="en-US" sz="1600" dirty="0" err="1">
                <a:solidFill>
                  <a:schemeClr val="accent5"/>
                </a:solidFill>
              </a:rPr>
              <a:t>융합교육센터</a:t>
            </a:r>
            <a:endParaRPr lang="en-US" sz="16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/>
              <a:t>2026. 10. 15.(</a:t>
            </a:r>
            <a:r>
              <a:rPr lang="ko-KR" altLang="en-US" dirty="0"/>
              <a:t>목</a:t>
            </a:r>
            <a:r>
              <a:rPr lang="en-US" altLang="ko-KR" dirty="0"/>
              <a:t>)~16.(</a:t>
            </a:r>
            <a:r>
              <a:rPr lang="ko-KR" altLang="en-US" dirty="0"/>
              <a:t>금</a:t>
            </a:r>
            <a:r>
              <a:rPr lang="en-US" altLang="ko-KR" dirty="0"/>
              <a:t>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0" y="457200"/>
            <a:ext cx="1005840" cy="10058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109728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UST 교육 환경의 특성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1"/>
                </a:solidFill>
              </a:rPr>
              <a:t>출연</a:t>
            </a:r>
            <a:r>
              <a:rPr lang="en-US" sz="1400" b="1" dirty="0">
                <a:solidFill>
                  <a:schemeClr val="accent1"/>
                </a:solidFill>
              </a:rPr>
              <a:t>(연) 현장이 곧 캠퍼스 — 분산 구조가 이러닝의 존재 이유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분산형 캠퍼스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학생이 다수 출연(연) </a:t>
            </a:r>
            <a:r>
              <a:rPr lang="en-US" sz="1300" dirty="0" err="1">
                <a:solidFill>
                  <a:schemeClr val="tx1"/>
                </a:solidFill>
              </a:rPr>
              <a:t>스쿨에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분산</a:t>
            </a:r>
            <a:r>
              <a:rPr lang="ko-KR" altLang="en-US" sz="1300" dirty="0">
                <a:solidFill>
                  <a:schemeClr val="tx1"/>
                </a:solidFill>
              </a:rPr>
              <a:t>되어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en-US" sz="1300" dirty="0" err="1">
                <a:solidFill>
                  <a:schemeClr val="tx1"/>
                </a:solidFill>
              </a:rPr>
              <a:t>소속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대전·부산</a:t>
            </a:r>
            <a:r>
              <a:rPr lang="en-US" sz="1300" dirty="0">
                <a:solidFill>
                  <a:schemeClr val="tx1"/>
                </a:solidFill>
              </a:rPr>
              <a:t> 등 </a:t>
            </a:r>
          </a:p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전국</a:t>
            </a:r>
            <a:r>
              <a:rPr lang="ko-KR" altLang="en-US" sz="1300" dirty="0"/>
              <a:t>의 연구</a:t>
            </a:r>
            <a:r>
              <a:rPr lang="en-US" sz="1300" dirty="0" err="1">
                <a:solidFill>
                  <a:schemeClr val="tx1"/>
                </a:solidFill>
              </a:rPr>
              <a:t>현장에서</a:t>
            </a:r>
            <a:r>
              <a:rPr lang="en-US" sz="1300" dirty="0">
                <a:solidFill>
                  <a:schemeClr val="tx1"/>
                </a:solidFill>
              </a:rPr>
              <a:t> 수학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현장 밀착 교육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/>
              <a:t>연구자가</a:t>
            </a:r>
            <a:r>
              <a:rPr lang="en-US" sz="1300" dirty="0">
                <a:solidFill>
                  <a:schemeClr val="tx1"/>
                </a:solidFill>
              </a:rPr>
              <a:t> 교원으로 참여, 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국가 연구과제 수행 속 </a:t>
            </a:r>
          </a:p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도제식</a:t>
            </a:r>
            <a:r>
              <a:rPr lang="en-US" sz="1300" dirty="0">
                <a:solidFill>
                  <a:schemeClr val="tx1"/>
                </a:solidFill>
              </a:rPr>
              <a:t> 지도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교과 다양성 한계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스쿨별 수강생 규모가 작아 오프라인 교과 개설 다양성에 구조적 제약 존재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48582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세션 1  온라인 강좌 운영 방안과 미래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295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공개형(MOOC)에서 학내 맞춤형(SPOC) 중심으로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UST 온라인 강좌 운영 체계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제작(MOOC·SPOC)과 외부 활용(글로벌 MOOC)의 투 트랙 운영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MOOC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공개형 강좌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STAR-MOOC 플랫폼 </a:t>
            </a:r>
            <a:r>
              <a:rPr lang="en-US" sz="1200" dirty="0" err="1">
                <a:solidFill>
                  <a:schemeClr val="tx1"/>
                </a:solidFill>
              </a:rPr>
              <a:t>통한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200" dirty="0"/>
              <a:t>   </a:t>
            </a:r>
            <a:r>
              <a:rPr lang="en-US" sz="1200" dirty="0" err="1">
                <a:solidFill>
                  <a:schemeClr val="tx1"/>
                </a:solidFill>
              </a:rPr>
              <a:t>대외</a:t>
            </a:r>
            <a:r>
              <a:rPr lang="en-US" sz="1200" dirty="0">
                <a:solidFill>
                  <a:schemeClr val="tx1"/>
                </a:solidFill>
              </a:rPr>
              <a:t> 공개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UST 특화 연구분야 </a:t>
            </a:r>
            <a:r>
              <a:rPr lang="en-US" sz="1200" dirty="0" err="1">
                <a:solidFill>
                  <a:schemeClr val="tx1"/>
                </a:solidFill>
              </a:rPr>
              <a:t>지식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확산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원격교육관리위원회 </a:t>
            </a:r>
            <a:r>
              <a:rPr lang="en-US" sz="1200" dirty="0" err="1">
                <a:solidFill>
                  <a:schemeClr val="tx1"/>
                </a:solidFill>
              </a:rPr>
              <a:t>심의로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참여 </a:t>
            </a:r>
            <a:r>
              <a:rPr lang="en-US" sz="1200" dirty="0" err="1">
                <a:solidFill>
                  <a:schemeClr val="tx1"/>
                </a:solidFill>
              </a:rPr>
              <a:t>강좌·교수</a:t>
            </a:r>
            <a:r>
              <a:rPr lang="en-US" sz="1200" dirty="0">
                <a:solidFill>
                  <a:schemeClr val="tx1"/>
                </a:solidFill>
              </a:rPr>
              <a:t> 선정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SPOC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학내 맞춤형 강좌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재학생 대상 정규 교과 보완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스쿨 간 교과 편차 해소 수단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8주 </a:t>
            </a:r>
            <a:r>
              <a:rPr lang="en-US" sz="1200" dirty="0" err="1">
                <a:solidFill>
                  <a:schemeClr val="bg1"/>
                </a:solidFill>
              </a:rPr>
              <a:t>단위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저비용·단기</a:t>
            </a:r>
            <a:r>
              <a:rPr lang="en-US" sz="1200" dirty="0">
                <a:solidFill>
                  <a:schemeClr val="bg1"/>
                </a:solidFill>
              </a:rPr>
              <a:t> 구조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글로벌 MOOC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외부 강좌 수강 지원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14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코세라 등 해외 강좌 수강료 환급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재학기간 전체 기준 상한 적용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매년 3월~10월 말 신청·환급 운영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2026년 콘텐츠 개발 현황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원격교육관리위원회 심의(제15회) 거쳐 4개 강좌 + 교원역량 영상 개발 추진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MOOC 강좌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12주차 구성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SPOC 강좌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8주차 구성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8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교원역량 영상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편당 20분, 영어자막·합성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2011680" cy="27432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추진 단계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139696"/>
            <a:ext cx="201168" cy="20116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7804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강좌·교수 선정 (7월)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2670048"/>
            <a:ext cx="201168" cy="201168"/>
          </a:xfrm>
          <a:prstGeom prst="ellipse">
            <a:avLst/>
          </a:prstGeom>
          <a:solidFill>
            <a:srgbClr val="0E7C86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입찰·제안평가 (10월)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기술협상·계약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3730752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3694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제작·검수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용역 예산 8,200만 원 / 외부 전문업체 위탁 제작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운영 방향 전환: 제작 중심에서 활용 중심으로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2026년을 끝으로 MOOC 신규 제작 종료, 2027년부터 SPOC 중심 개발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지금까지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공개형 MOOC 중심 신규 제작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강좌당 제작비·스튜디오 운영비 부담 큼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제작 후 활용도 관리 체계 미흡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연도별 6건 내외 제작 계획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4528" y="2743200"/>
            <a:ext cx="457200" cy="45720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463040"/>
            <a:ext cx="3886200" cy="3017520"/>
          </a:xfrm>
          <a:prstGeom prst="roundRect">
            <a:avLst>
              <a:gd name="adj" fmla="val 2424"/>
            </a:avLst>
          </a:prstGeom>
          <a:solidFill>
            <a:schemeClr val="accent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앞으로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학내 수요 기반 SPOC 중심 저비용 개발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기존 MOOC 영상 재편집·재활용 활성화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콘텐츠 활용도 지표 기반 성과 관리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영어자막 등 다국어화로 외국인 학생 접근성 제고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연합 차원의 미래 과제 제안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기관별 제작 경쟁을 넘어 '공동 활용' 생태계로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공동 활용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기관 간 강좌 공유·상호 인정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848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연합 보유 강좌를 각 기관 정규 교과·비교과로 상호 활용하는 체계 마련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E896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재활용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기존 콘텐츠 리패키징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848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모듈 단위 재편집, 마이크로 강좌화로 축적 </a:t>
            </a:r>
            <a:r>
              <a:rPr lang="en-US" sz="1200" dirty="0" err="1">
                <a:solidFill>
                  <a:schemeClr val="tx1"/>
                </a:solidFill>
              </a:rPr>
              <a:t>영상의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chemeClr val="tx1"/>
                </a:solidFill>
              </a:rPr>
              <a:t>수명</a:t>
            </a:r>
            <a:r>
              <a:rPr lang="en-US" sz="1200" dirty="0">
                <a:solidFill>
                  <a:schemeClr val="tx1"/>
                </a:solidFill>
              </a:rPr>
              <a:t> 연장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461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지표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공통 성과지표 정립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850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수강·이수·재활용률 등 공통 지표로 플랫폼 운영 성과 공동 점검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46120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E896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2461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다국어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외국인 학생 지원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8503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자막·번역 공동 활용으로 다국어 콘텐츠 확대 비용 절감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세션 2  AI 적용 업무 추진 현황과 계획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행정 업무 효율화에서 교육 혁신으로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AI 적용 업무 추진 현황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생성형 AI 이용 지원을 바탕으로 행정·평가·콘텐츠 영역에 단계적 적용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5389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53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행정 문서 작성 지원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41732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기안문·보고서·회의자료 초안 작성, 개조식 정리 등에 생성형 AI 활용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12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0756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규정·법령 검토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7568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학칙·운영요령과 교육부 지침 간 정합성 점검, 관련 조항 비교 검토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문서 교차 점검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3405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수치·표·기관명 등 다수 문서 간 불일치 사전 발견으로 오류 감소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9242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평가 보조 시범 적용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39242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교원 계획서 평가 시 복수 AI 비교 채점·논문 실적 검증을 보조 수단으로 시범 활용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05079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콘텐츠 다국어화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0507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이러닝 영상 영어자막 생성 등 콘텐츠 제작 공정에 AI 반영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AI 활용 원칙: 보조 도구, 최종 판단은 사람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효율 이상의 효과 — 오류 사전 발견과 기획 업무로의 시간 재배분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체감 효과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초안 작성·규정 검토 시간 단축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문서 간 수치 불일치 사전 발견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절감 시간을 교원 문의 대응·제도 개선 검토에 재투입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임시·대체 담당자 업무 인수인계 부담 완화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834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운영 원칙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0312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개인정보·대외비 자료 비식별 처리 후 활용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법령 해석·수치는 원문 대조 후 확정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평가 결과는 AI 단독 판단 배제, 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   </a:t>
            </a:r>
            <a:r>
              <a:rPr lang="en-US" sz="1300" dirty="0" err="1">
                <a:solidFill>
                  <a:schemeClr val="bg1"/>
                </a:solidFill>
              </a:rPr>
              <a:t>위원</a:t>
            </a:r>
            <a:r>
              <a:rPr lang="en-US" sz="1300" dirty="0">
                <a:solidFill>
                  <a:schemeClr val="bg1"/>
                </a:solidFill>
              </a:rPr>
              <a:t> 심사 보조에 한정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AI 활용 사실의 기록·보고 체계 유지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향후 추진 계획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업무 효율화 → 학생 AI 역량 → 교육 콘텐츠 혁신의 3단계 확장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502920"/>
          </a:xfrm>
          <a:prstGeom prst="chevron">
            <a:avLst/>
          </a:prstGeom>
          <a:solidFill>
            <a:srgbClr val="5BA4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단기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업무 효율화 고도화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부서별 활용 사례 공유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활용 가이드라인 정비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반복 행정 업무 표준 프롬프트화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502920"/>
          </a:xfrm>
          <a:prstGeom prst="chevron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중기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290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학생 AI 역량 강화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74320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전공</a:t>
            </a:r>
            <a:r>
              <a:rPr lang="en-US" sz="1200" dirty="0">
                <a:solidFill>
                  <a:schemeClr val="tx1"/>
                </a:solidFill>
              </a:rPr>
              <a:t> 간 AI 역량 </a:t>
            </a:r>
            <a:r>
              <a:rPr lang="en-US" sz="1200" dirty="0" err="1">
                <a:solidFill>
                  <a:schemeClr val="tx1"/>
                </a:solidFill>
              </a:rPr>
              <a:t>격차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완화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sz="1200" dirty="0"/>
              <a:t>   (AI </a:t>
            </a:r>
            <a:r>
              <a:rPr lang="ko-KR" altLang="en-US" sz="1200" dirty="0"/>
              <a:t>관련 </a:t>
            </a:r>
            <a:r>
              <a:rPr lang="en-US" altLang="ko-KR" sz="1200" dirty="0"/>
              <a:t>MOOC </a:t>
            </a:r>
            <a:r>
              <a:rPr lang="ko-KR" altLang="en-US" sz="1200" dirty="0"/>
              <a:t>영상 </a:t>
            </a:r>
            <a:endParaRPr lang="en-US" altLang="ko-KR" sz="1200" dirty="0"/>
          </a:p>
          <a:p>
            <a:pPr>
              <a:spcAft>
                <a:spcPts val="500"/>
              </a:spcAft>
              <a:buSzPct val="100000"/>
            </a:pPr>
            <a:r>
              <a:rPr lang="en-US" altLang="ko-KR" sz="1200" dirty="0"/>
              <a:t>   </a:t>
            </a:r>
            <a:r>
              <a:rPr lang="ko-KR" altLang="en-US" sz="1200" dirty="0"/>
              <a:t>타 전공 활용 권장</a:t>
            </a:r>
            <a:r>
              <a:rPr lang="en-US" altLang="ko-KR" sz="1200" dirty="0"/>
              <a:t>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연구 현장형 AI 활용 교육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502920"/>
          </a:xfrm>
          <a:prstGeom prst="chevron">
            <a:avLst/>
          </a:prstGeom>
          <a:solidFill>
            <a:srgbClr val="123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장기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교육 콘텐츠 혁신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74320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기반 </a:t>
            </a:r>
            <a:r>
              <a:rPr lang="en-US" sz="1200" dirty="0" err="1">
                <a:solidFill>
                  <a:schemeClr val="tx1"/>
                </a:solidFill>
              </a:rPr>
              <a:t>자막·번역으로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200" dirty="0"/>
              <a:t>   </a:t>
            </a:r>
            <a:r>
              <a:rPr lang="en-US" sz="1200" dirty="0">
                <a:solidFill>
                  <a:schemeClr val="tx1"/>
                </a:solidFill>
              </a:rPr>
              <a:t>SPOC </a:t>
            </a:r>
            <a:r>
              <a:rPr lang="en-US" sz="1200" dirty="0" err="1">
                <a:solidFill>
                  <a:schemeClr val="tx1"/>
                </a:solidFill>
              </a:rPr>
              <a:t>다국어화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강좌 기반 학습 Q&amp;A </a:t>
            </a:r>
            <a:r>
              <a:rPr lang="en-US" sz="1200" dirty="0" err="1">
                <a:solidFill>
                  <a:schemeClr val="tx1"/>
                </a:solidFill>
              </a:rPr>
              <a:t>지원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검토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세션 3  AI가 답을 주는데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무엇을 가르치고 평가할 것인가?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연구중심 대학원의 관점에서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질문의 전환: 정답에서 질문으로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답의 가치는 하락, 좋은 질문과 검증 능력의 가치는 상승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AI 이전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이후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EF4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정답 찾기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002536"/>
            <a:ext cx="457200" cy="27432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18745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2080" y="18745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좋은 질문 만들기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EF4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5603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지식 암기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688336"/>
            <a:ext cx="457200" cy="27432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25603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12080" y="25603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지식 검증·판단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EF4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246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결과물 제출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3374136"/>
            <a:ext cx="457200" cy="27432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12080" y="32461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12080" y="3246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과정의 설명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EF4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개인 과제 수행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4059936"/>
            <a:ext cx="457200" cy="27432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39319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12080" y="39319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AI와의 협업 설계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UST가 가르쳐야 할 것: AI가 대신할 수 없는 연구자 역량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연구 현장 도제식 교육은 AI 시대에 오히려 강점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문제 설정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848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연구 현장의 미해결 문제를 정의하고 의미 있는 질문으로 구체화하는 능력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검증과 판단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0848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산출물의 사실 여부·한계를 실험·데이터·문헌으로 확인하는 능력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⚖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연구윤리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6850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 활용 사실 명시, 데이터·저작권·보안 기준 준수에 대한 책임 의식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91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협업과 소통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6850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연구팀·출연(연)·산업계와 협업하며 결과를 설명·설득하는 능력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어떻게 평가할 것인가: 결과에서 과정으로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최종 산출물보다 사고 과정과 AI 활용 방식 자체를 평가 대상으로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구술·발표 평가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1463040"/>
            <a:ext cx="5715000" cy="621792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54680" y="146304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제출물 내용을 본인이 설명·방어할 수 있는지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5BA4A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과정 기록 평가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5715000" cy="621792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22402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연구노트·중간 산출물·수정 이력 등 과정 포트폴리오 반영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AI 활용 명시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71800" y="3017520"/>
            <a:ext cx="5715000" cy="621792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54680" y="301752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사용한 AI 도구·프롬프트·검증 내역 제출 및 평가 반영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5BA4A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현장 수행 평가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71800" y="3794760"/>
            <a:ext cx="5715000" cy="621792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379476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연구실·현장연구 수행 과정에 대한 지도교수 관찰 평가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A1A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감사합니다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과학기술연합대학원대학교(UST) 융합교육센터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0" y="457200"/>
            <a:ext cx="1005840" cy="10058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109728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UST STAR-MOOC">
  <a:themeElements>
    <a:clrScheme name="UST STAR-MOOC">
      <a:dk1>
        <a:srgbClr val="1F2A30"/>
      </a:dk1>
      <a:lt1>
        <a:srgbClr val="FFFFFF"/>
      </a:lt1>
      <a:dk2>
        <a:srgbClr val="12384A"/>
      </a:dk2>
      <a:lt2>
        <a:srgbClr val="EEF4F5"/>
      </a:lt2>
      <a:accent1>
        <a:srgbClr val="0E7C86"/>
      </a:accent1>
      <a:accent2>
        <a:srgbClr val="E8963A"/>
      </a:accent2>
      <a:accent3>
        <a:srgbClr val="5BA4AC"/>
      </a:accent3>
      <a:accent4>
        <a:srgbClr val="8AA1AA"/>
      </a:accent4>
      <a:accent5>
        <a:srgbClr val="C8DDE0"/>
      </a:accent5>
      <a:accent6>
        <a:srgbClr val="B4552D"/>
      </a:accent6>
      <a:hlink>
        <a:srgbClr val="0E7C86"/>
      </a:hlink>
      <a:folHlink>
        <a:srgbClr val="5BA4AC"/>
      </a:folHlink>
    </a:clrScheme>
    <a:fontScheme name="UST STAR-MOOC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1417</Words>
  <Application>Microsoft Office PowerPoint</Application>
  <PresentationFormat>화면 슬라이드 쇼(16:9)</PresentationFormat>
  <Paragraphs>215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UST STAR-MOOC</vt:lpstr>
      <vt:lpstr>UST 이러닝·AI 추진 현황과 과제</vt:lpstr>
      <vt:lpstr>UST 교육 환경의 특성</vt:lpstr>
      <vt:lpstr>세션 1  온라인 강좌 운영 방안과 미래</vt:lpstr>
      <vt:lpstr>UST 온라인 강좌 운영 체계</vt:lpstr>
      <vt:lpstr>2026년 콘텐츠 개발 현황</vt:lpstr>
      <vt:lpstr>운영 방향 전환: 제작 중심에서 활용 중심으로</vt:lpstr>
      <vt:lpstr>연합 차원의 미래 과제 제안</vt:lpstr>
      <vt:lpstr>세션 2  AI 적용 업무 추진 현황과 계획</vt:lpstr>
      <vt:lpstr>AI 적용 업무 추진 현황</vt:lpstr>
      <vt:lpstr>AI 활용 원칙: 보조 도구, 최종 판단은 사람</vt:lpstr>
      <vt:lpstr>향후 추진 계획</vt:lpstr>
      <vt:lpstr>세션 3  AI가 답을 주는데 무엇을 가르치고 평가할 것인가?</vt:lpstr>
      <vt:lpstr>질문의 전환: 정답에서 질문으로</vt:lpstr>
      <vt:lpstr>UST가 가르쳐야 할 것: AI가 대신할 수 없는 연구자 역량</vt:lpstr>
      <vt:lpstr>어떻게 평가할 것인가: 결과에서 과정으로</vt:lpstr>
      <vt:lpstr>감사합니다</vt:lpstr>
    </vt:vector>
  </TitlesOfParts>
  <Company>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STAR-MOOC 연합 워크숍 UST 발표자료</dc:title>
  <dc:subject>PptxGenJS Presentation</dc:subject>
  <dc:creator>UST 융합교육센터</dc:creator>
  <cp:lastModifiedBy>USER</cp:lastModifiedBy>
  <cp:revision>14</cp:revision>
  <dcterms:created xsi:type="dcterms:W3CDTF">2026-10-13T00:53:58Z</dcterms:created>
  <dcterms:modified xsi:type="dcterms:W3CDTF">2026-10-13T01:09:06Z</dcterms:modified>
</cp:coreProperties>
</file>